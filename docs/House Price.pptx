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0" r:id="rId3"/>
    <p:sldId id="337" r:id="rId4"/>
    <p:sldId id="304" r:id="rId5"/>
    <p:sldId id="335" r:id="rId6"/>
    <p:sldId id="305" r:id="rId7"/>
    <p:sldId id="336" r:id="rId8"/>
    <p:sldId id="338" r:id="rId9"/>
    <p:sldId id="267" r:id="rId10"/>
    <p:sldId id="310" r:id="rId11"/>
    <p:sldId id="311" r:id="rId12"/>
    <p:sldId id="329" r:id="rId13"/>
    <p:sldId id="312" r:id="rId14"/>
    <p:sldId id="330" r:id="rId15"/>
    <p:sldId id="331" r:id="rId16"/>
    <p:sldId id="313" r:id="rId17"/>
    <p:sldId id="332" r:id="rId18"/>
    <p:sldId id="314" r:id="rId19"/>
    <p:sldId id="333" r:id="rId20"/>
    <p:sldId id="334" r:id="rId21"/>
    <p:sldId id="316" r:id="rId22"/>
    <p:sldId id="324" r:id="rId23"/>
    <p:sldId id="325" r:id="rId24"/>
    <p:sldId id="339" r:id="rId30"/>
    <p:sldId id="340" r:id="rId31"/>
    <p:sldId id="341" r:id="rId32"/>
    <p:sldId id="342" r:id="rId33"/>
    <p:sldId id="294"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544" autoAdjust="0"/>
    <p:restoredTop sz="94660"/>
  </p:normalViewPr>
  <p:slideViewPr>
    <p:cSldViewPr snapToGrid="0">
      <p:cViewPr varScale="1">
        <p:scale>
          <a:sx n="74" d="100"/>
          <a:sy n="74" d="100"/>
        </p:scale>
        <p:origin x="516"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8.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smtClean="0"/>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dirty="0"/>
          </a:p>
        </p:txBody>
      </p:sp>
      <p:sp>
        <p:nvSpPr>
          <p:cNvPr id="4" name="Date Placeholder 3"/>
          <p:cNvSpPr>
            <a:spLocks noGrp="1"/>
          </p:cNvSpPr>
          <p:nvPr>
            <p:ph type="dt" sz="half" idx="10"/>
          </p:nvPr>
        </p:nvSpPr>
        <p:spPr/>
        <p:txBody>
          <a:bodyPr/>
          <a:lstStyle/>
          <a:p>
            <a:fld id="{53F1C30B-C7CB-4DE3-8AF4-6E194EE09BCE}" type="datetimeFigureOut">
              <a:rPr lang="en-IN" smtClean="0"/>
              <a:t>25-05-2023</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A652545D-1084-406C-AF3C-EEB12A5E2031}" type="slidenum">
              <a:rPr lang="en-IN" smtClean="0"/>
              <a:t>‹#›</a:t>
            </a:fld>
            <a:endParaRPr lang="en-IN" dirty="0"/>
          </a:p>
        </p:txBody>
      </p:sp>
    </p:spTree>
    <p:extLst>
      <p:ext uri="{BB962C8B-B14F-4D97-AF65-F5344CB8AC3E}">
        <p14:creationId xmlns:p14="http://schemas.microsoft.com/office/powerpoint/2010/main" val="38756305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3"/>
          <p:cNvSpPr>
            <a:spLocks noGrp="1"/>
          </p:cNvSpPr>
          <p:nvPr>
            <p:ph type="dt" sz="half" idx="10"/>
          </p:nvPr>
        </p:nvSpPr>
        <p:spPr/>
        <p:txBody>
          <a:bodyPr/>
          <a:lstStyle/>
          <a:p>
            <a:fld id="{53F1C30B-C7CB-4DE3-8AF4-6E194EE09BCE}" type="datetimeFigureOut">
              <a:rPr lang="en-IN" smtClean="0"/>
              <a:t>25-05-2023</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A652545D-1084-406C-AF3C-EEB12A5E2031}" type="slidenum">
              <a:rPr lang="en-IN" smtClean="0"/>
              <a:t>‹#›</a:t>
            </a:fld>
            <a:endParaRPr lang="en-IN" dirty="0"/>
          </a:p>
        </p:txBody>
      </p:sp>
    </p:spTree>
    <p:extLst>
      <p:ext uri="{BB962C8B-B14F-4D97-AF65-F5344CB8AC3E}">
        <p14:creationId xmlns:p14="http://schemas.microsoft.com/office/powerpoint/2010/main" val="18240010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3F1C30B-C7CB-4DE3-8AF4-6E194EE09BCE}" type="datetimeFigureOut">
              <a:rPr lang="en-IN" smtClean="0"/>
              <a:t>25-05-2023</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A652545D-1084-406C-AF3C-EEB12A5E2031}" type="slidenum">
              <a:rPr lang="en-IN" smtClean="0"/>
              <a:t>‹#›</a:t>
            </a:fld>
            <a:endParaRPr lang="en-IN" dirty="0"/>
          </a:p>
        </p:txBody>
      </p:sp>
    </p:spTree>
    <p:extLst>
      <p:ext uri="{BB962C8B-B14F-4D97-AF65-F5344CB8AC3E}">
        <p14:creationId xmlns:p14="http://schemas.microsoft.com/office/powerpoint/2010/main" val="52442589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Date Placeholder 4"/>
          <p:cNvSpPr>
            <a:spLocks noGrp="1"/>
          </p:cNvSpPr>
          <p:nvPr>
            <p:ph type="dt" sz="half" idx="10"/>
          </p:nvPr>
        </p:nvSpPr>
        <p:spPr/>
        <p:txBody>
          <a:bodyPr/>
          <a:lstStyle/>
          <a:p>
            <a:fld id="{53F1C30B-C7CB-4DE3-8AF4-6E194EE09BCE}" type="datetimeFigureOut">
              <a:rPr lang="en-IN" smtClean="0"/>
              <a:t>25-05-2023</a:t>
            </a:fld>
            <a:endParaRPr lang="en-IN" dirty="0"/>
          </a:p>
        </p:txBody>
      </p:sp>
      <p:sp>
        <p:nvSpPr>
          <p:cNvPr id="6" name="Footer Placeholder 5"/>
          <p:cNvSpPr>
            <a:spLocks noGrp="1"/>
          </p:cNvSpPr>
          <p:nvPr>
            <p:ph type="ftr" sz="quarter" idx="11"/>
          </p:nvPr>
        </p:nvSpPr>
        <p:spPr/>
        <p:txBody>
          <a:bodyPr/>
          <a:lstStyle/>
          <a:p>
            <a:endParaRPr lang="en-IN" dirty="0"/>
          </a:p>
        </p:txBody>
      </p:sp>
      <p:sp>
        <p:nvSpPr>
          <p:cNvPr id="7" name="Slide Number Placeholder 6"/>
          <p:cNvSpPr>
            <a:spLocks noGrp="1"/>
          </p:cNvSpPr>
          <p:nvPr>
            <p:ph type="sldNum" sz="quarter" idx="12"/>
          </p:nvPr>
        </p:nvSpPr>
        <p:spPr/>
        <p:txBody>
          <a:bodyPr/>
          <a:lstStyle/>
          <a:p>
            <a:fld id="{A652545D-1084-406C-AF3C-EEB12A5E2031}" type="slidenum">
              <a:rPr lang="en-IN" smtClean="0"/>
              <a:t>‹#›</a:t>
            </a:fld>
            <a:endParaRPr lang="en-IN" dirty="0"/>
          </a:p>
        </p:txBody>
      </p:sp>
    </p:spTree>
    <p:extLst>
      <p:ext uri="{BB962C8B-B14F-4D97-AF65-F5344CB8AC3E}">
        <p14:creationId xmlns:p14="http://schemas.microsoft.com/office/powerpoint/2010/main" val="19434625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7" name="Date Placeholder 6"/>
          <p:cNvSpPr>
            <a:spLocks noGrp="1"/>
          </p:cNvSpPr>
          <p:nvPr>
            <p:ph type="dt" sz="half" idx="10"/>
          </p:nvPr>
        </p:nvSpPr>
        <p:spPr/>
        <p:txBody>
          <a:bodyPr/>
          <a:lstStyle/>
          <a:p>
            <a:fld id="{53F1C30B-C7CB-4DE3-8AF4-6E194EE09BCE}" type="datetimeFigureOut">
              <a:rPr lang="en-IN" smtClean="0"/>
              <a:t>25-05-2023</a:t>
            </a:fld>
            <a:endParaRPr lang="en-IN" dirty="0"/>
          </a:p>
        </p:txBody>
      </p:sp>
      <p:sp>
        <p:nvSpPr>
          <p:cNvPr id="8" name="Footer Placeholder 7"/>
          <p:cNvSpPr>
            <a:spLocks noGrp="1"/>
          </p:cNvSpPr>
          <p:nvPr>
            <p:ph type="ftr" sz="quarter" idx="11"/>
          </p:nvPr>
        </p:nvSpPr>
        <p:spPr/>
        <p:txBody>
          <a:bodyPr/>
          <a:lstStyle/>
          <a:p>
            <a:endParaRPr lang="en-IN" dirty="0"/>
          </a:p>
        </p:txBody>
      </p:sp>
      <p:sp>
        <p:nvSpPr>
          <p:cNvPr id="9" name="Slide Number Placeholder 8"/>
          <p:cNvSpPr>
            <a:spLocks noGrp="1"/>
          </p:cNvSpPr>
          <p:nvPr>
            <p:ph type="sldNum" sz="quarter" idx="12"/>
          </p:nvPr>
        </p:nvSpPr>
        <p:spPr/>
        <p:txBody>
          <a:bodyPr/>
          <a:lstStyle/>
          <a:p>
            <a:fld id="{A652545D-1084-406C-AF3C-EEB12A5E2031}" type="slidenum">
              <a:rPr lang="en-IN" smtClean="0"/>
              <a:t>‹#›</a:t>
            </a:fld>
            <a:endParaRPr lang="en-IN" dirty="0"/>
          </a:p>
        </p:txBody>
      </p:sp>
    </p:spTree>
    <p:extLst>
      <p:ext uri="{BB962C8B-B14F-4D97-AF65-F5344CB8AC3E}">
        <p14:creationId xmlns:p14="http://schemas.microsoft.com/office/powerpoint/2010/main" val="16503681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7" name="Date Placeholder 2"/>
          <p:cNvSpPr>
            <a:spLocks noGrp="1"/>
          </p:cNvSpPr>
          <p:nvPr>
            <p:ph type="dt" sz="half" idx="10"/>
          </p:nvPr>
        </p:nvSpPr>
        <p:spPr/>
        <p:txBody>
          <a:bodyPr/>
          <a:lstStyle/>
          <a:p>
            <a:fld id="{53F1C30B-C7CB-4DE3-8AF4-6E194EE09BCE}" type="datetimeFigureOut">
              <a:rPr lang="en-IN" smtClean="0"/>
              <a:t>25-05-2023</a:t>
            </a:fld>
            <a:endParaRPr lang="en-IN" dirty="0"/>
          </a:p>
        </p:txBody>
      </p:sp>
      <p:sp>
        <p:nvSpPr>
          <p:cNvPr id="5" name="Footer Placeholder 3"/>
          <p:cNvSpPr>
            <a:spLocks noGrp="1"/>
          </p:cNvSpPr>
          <p:nvPr>
            <p:ph type="ftr" sz="quarter" idx="11"/>
          </p:nvPr>
        </p:nvSpPr>
        <p:spPr/>
        <p:txBody>
          <a:bodyPr/>
          <a:lstStyle/>
          <a:p>
            <a:endParaRPr lang="en-IN" dirty="0"/>
          </a:p>
        </p:txBody>
      </p:sp>
      <p:sp>
        <p:nvSpPr>
          <p:cNvPr id="6" name="Slide Number Placeholder 4"/>
          <p:cNvSpPr>
            <a:spLocks noGrp="1"/>
          </p:cNvSpPr>
          <p:nvPr>
            <p:ph type="sldNum" sz="quarter" idx="12"/>
          </p:nvPr>
        </p:nvSpPr>
        <p:spPr/>
        <p:txBody>
          <a:bodyPr/>
          <a:lstStyle/>
          <a:p>
            <a:fld id="{A652545D-1084-406C-AF3C-EEB12A5E2031}" type="slidenum">
              <a:rPr lang="en-IN" smtClean="0"/>
              <a:t>‹#›</a:t>
            </a:fld>
            <a:endParaRPr lang="en-IN" dirty="0"/>
          </a:p>
        </p:txBody>
      </p:sp>
    </p:spTree>
    <p:extLst>
      <p:ext uri="{BB962C8B-B14F-4D97-AF65-F5344CB8AC3E}">
        <p14:creationId xmlns:p14="http://schemas.microsoft.com/office/powerpoint/2010/main" val="34936127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53F1C30B-C7CB-4DE3-8AF4-6E194EE09BCE}" type="datetimeFigureOut">
              <a:rPr lang="en-IN" smtClean="0"/>
              <a:t>25-05-2023</a:t>
            </a:fld>
            <a:endParaRPr lang="en-IN" dirty="0"/>
          </a:p>
        </p:txBody>
      </p:sp>
      <p:sp>
        <p:nvSpPr>
          <p:cNvPr id="5" name="Footer Placeholder 2"/>
          <p:cNvSpPr>
            <a:spLocks noGrp="1"/>
          </p:cNvSpPr>
          <p:nvPr>
            <p:ph type="ftr" sz="quarter" idx="11"/>
          </p:nvPr>
        </p:nvSpPr>
        <p:spPr/>
        <p:txBody>
          <a:bodyPr/>
          <a:lstStyle/>
          <a:p>
            <a:endParaRPr lang="en-IN" dirty="0"/>
          </a:p>
        </p:txBody>
      </p:sp>
      <p:sp>
        <p:nvSpPr>
          <p:cNvPr id="6" name="Slide Number Placeholder 3"/>
          <p:cNvSpPr>
            <a:spLocks noGrp="1"/>
          </p:cNvSpPr>
          <p:nvPr>
            <p:ph type="sldNum" sz="quarter" idx="12"/>
          </p:nvPr>
        </p:nvSpPr>
        <p:spPr/>
        <p:txBody>
          <a:bodyPr/>
          <a:lstStyle/>
          <a:p>
            <a:fld id="{A652545D-1084-406C-AF3C-EEB12A5E2031}" type="slidenum">
              <a:rPr lang="en-IN" smtClean="0"/>
              <a:t>‹#›</a:t>
            </a:fld>
            <a:endParaRPr lang="en-IN" dirty="0"/>
          </a:p>
        </p:txBody>
      </p:sp>
    </p:spTree>
    <p:extLst>
      <p:ext uri="{BB962C8B-B14F-4D97-AF65-F5344CB8AC3E}">
        <p14:creationId xmlns:p14="http://schemas.microsoft.com/office/powerpoint/2010/main" val="27346435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US" smtClean="0"/>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7" name="Date Placeholder 4"/>
          <p:cNvSpPr>
            <a:spLocks noGrp="1"/>
          </p:cNvSpPr>
          <p:nvPr>
            <p:ph type="dt" sz="half" idx="10"/>
          </p:nvPr>
        </p:nvSpPr>
        <p:spPr/>
        <p:txBody>
          <a:bodyPr/>
          <a:lstStyle/>
          <a:p>
            <a:fld id="{53F1C30B-C7CB-4DE3-8AF4-6E194EE09BCE}" type="datetimeFigureOut">
              <a:rPr lang="en-IN" smtClean="0"/>
              <a:t>25-05-2023</a:t>
            </a:fld>
            <a:endParaRPr lang="en-IN" dirty="0"/>
          </a:p>
        </p:txBody>
      </p:sp>
      <p:sp>
        <p:nvSpPr>
          <p:cNvPr id="5" name="Footer Placeholder 5"/>
          <p:cNvSpPr>
            <a:spLocks noGrp="1"/>
          </p:cNvSpPr>
          <p:nvPr>
            <p:ph type="ftr" sz="quarter" idx="11"/>
          </p:nvPr>
        </p:nvSpPr>
        <p:spPr/>
        <p:txBody>
          <a:bodyPr/>
          <a:lstStyle/>
          <a:p>
            <a:endParaRPr lang="en-IN" dirty="0"/>
          </a:p>
        </p:txBody>
      </p:sp>
      <p:sp>
        <p:nvSpPr>
          <p:cNvPr id="6" name="Slide Number Placeholder 6"/>
          <p:cNvSpPr>
            <a:spLocks noGrp="1"/>
          </p:cNvSpPr>
          <p:nvPr>
            <p:ph type="sldNum" sz="quarter" idx="12"/>
          </p:nvPr>
        </p:nvSpPr>
        <p:spPr/>
        <p:txBody>
          <a:bodyPr/>
          <a:lstStyle/>
          <a:p>
            <a:fld id="{A652545D-1084-406C-AF3C-EEB12A5E2031}" type="slidenum">
              <a:rPr lang="en-IN" smtClean="0"/>
              <a:t>‹#›</a:t>
            </a:fld>
            <a:endParaRPr lang="en-IN" dirty="0"/>
          </a:p>
        </p:txBody>
      </p:sp>
    </p:spTree>
    <p:extLst>
      <p:ext uri="{BB962C8B-B14F-4D97-AF65-F5344CB8AC3E}">
        <p14:creationId xmlns:p14="http://schemas.microsoft.com/office/powerpoint/2010/main" val="24180559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3F1C30B-C7CB-4DE3-8AF4-6E194EE09BCE}" type="datetimeFigureOut">
              <a:rPr lang="en-IN" smtClean="0"/>
              <a:t>25-05-2023</a:t>
            </a:fld>
            <a:endParaRPr lang="en-IN" dirty="0"/>
          </a:p>
        </p:txBody>
      </p:sp>
      <p:sp>
        <p:nvSpPr>
          <p:cNvPr id="6" name="Footer Placeholder 5"/>
          <p:cNvSpPr>
            <a:spLocks noGrp="1"/>
          </p:cNvSpPr>
          <p:nvPr>
            <p:ph type="ftr" sz="quarter" idx="11"/>
          </p:nvPr>
        </p:nvSpPr>
        <p:spPr/>
        <p:txBody>
          <a:bodyPr/>
          <a:lstStyle/>
          <a:p>
            <a:endParaRPr lang="en-IN" dirty="0"/>
          </a:p>
        </p:txBody>
      </p:sp>
      <p:sp>
        <p:nvSpPr>
          <p:cNvPr id="7" name="Slide Number Placeholder 6"/>
          <p:cNvSpPr>
            <a:spLocks noGrp="1"/>
          </p:cNvSpPr>
          <p:nvPr>
            <p:ph type="sldNum" sz="quarter" idx="12"/>
          </p:nvPr>
        </p:nvSpPr>
        <p:spPr/>
        <p:txBody>
          <a:bodyPr/>
          <a:lstStyle/>
          <a:p>
            <a:fld id="{A652545D-1084-406C-AF3C-EEB12A5E2031}" type="slidenum">
              <a:rPr lang="en-IN" smtClean="0"/>
              <a:t>‹#›</a:t>
            </a:fld>
            <a:endParaRPr lang="en-IN" dirty="0"/>
          </a:p>
        </p:txBody>
      </p:sp>
    </p:spTree>
    <p:extLst>
      <p:ext uri="{BB962C8B-B14F-4D97-AF65-F5344CB8AC3E}">
        <p14:creationId xmlns:p14="http://schemas.microsoft.com/office/powerpoint/2010/main" val="32135656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smtClean="0"/>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3F1C30B-C7CB-4DE3-8AF4-6E194EE09BCE}" type="datetimeFigureOut">
              <a:rPr lang="en-IN" smtClean="0"/>
              <a:t>25-05-2023</a:t>
            </a:fld>
            <a:endParaRPr lang="en-IN" dirty="0"/>
          </a:p>
        </p:txBody>
      </p:sp>
      <p:sp>
        <p:nvSpPr>
          <p:cNvPr id="6" name="Footer Placeholder 5"/>
          <p:cNvSpPr>
            <a:spLocks noGrp="1"/>
          </p:cNvSpPr>
          <p:nvPr>
            <p:ph type="ftr" sz="quarter" idx="11"/>
          </p:nvPr>
        </p:nvSpPr>
        <p:spPr/>
        <p:txBody>
          <a:bodyPr/>
          <a:lstStyle/>
          <a:p>
            <a:endParaRPr lang="en-IN" dirty="0"/>
          </a:p>
        </p:txBody>
      </p:sp>
      <p:sp>
        <p:nvSpPr>
          <p:cNvPr id="7" name="Slide Number Placeholder 6"/>
          <p:cNvSpPr>
            <a:spLocks noGrp="1"/>
          </p:cNvSpPr>
          <p:nvPr>
            <p:ph type="sldNum" sz="quarter" idx="12"/>
          </p:nvPr>
        </p:nvSpPr>
        <p:spPr/>
        <p:txBody>
          <a:bodyPr/>
          <a:lstStyle/>
          <a:p>
            <a:fld id="{A652545D-1084-406C-AF3C-EEB12A5E2031}" type="slidenum">
              <a:rPr lang="en-IN" smtClean="0"/>
              <a:t>‹#›</a:t>
            </a:fld>
            <a:endParaRPr lang="en-IN" dirty="0"/>
          </a:p>
        </p:txBody>
      </p:sp>
    </p:spTree>
    <p:extLst>
      <p:ext uri="{BB962C8B-B14F-4D97-AF65-F5344CB8AC3E}">
        <p14:creationId xmlns:p14="http://schemas.microsoft.com/office/powerpoint/2010/main" val="19841835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smtClean="0"/>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3F1C30B-C7CB-4DE3-8AF4-6E194EE09BCE}" type="datetimeFigureOut">
              <a:rPr lang="en-IN" smtClean="0"/>
              <a:t>25-05-2023</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A652545D-1084-406C-AF3C-EEB12A5E2031}" type="slidenum">
              <a:rPr lang="en-IN" smtClean="0"/>
              <a:t>‹#›</a:t>
            </a:fld>
            <a:endParaRPr lang="en-IN" dirty="0"/>
          </a:p>
        </p:txBody>
      </p:sp>
    </p:spTree>
    <p:extLst>
      <p:ext uri="{BB962C8B-B14F-4D97-AF65-F5344CB8AC3E}">
        <p14:creationId xmlns:p14="http://schemas.microsoft.com/office/powerpoint/2010/main" val="39396275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US" smtClean="0"/>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US" smtClean="0"/>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3F1C30B-C7CB-4DE3-8AF4-6E194EE09BCE}" type="datetimeFigureOut">
              <a:rPr lang="en-IN" smtClean="0"/>
              <a:t>25-05-2023</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A652545D-1084-406C-AF3C-EEB12A5E2031}" type="slidenum">
              <a:rPr lang="en-IN" smtClean="0"/>
              <a:t>‹#›</a:t>
            </a:fld>
            <a:endParaRPr lang="en-IN" dirty="0"/>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364000722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US" smtClean="0"/>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3F1C30B-C7CB-4DE3-8AF4-6E194EE09BCE}" type="datetimeFigureOut">
              <a:rPr lang="en-IN" smtClean="0"/>
              <a:t>25-05-2023</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A652545D-1084-406C-AF3C-EEB12A5E2031}" type="slidenum">
              <a:rPr lang="en-IN" smtClean="0"/>
              <a:t>‹#›</a:t>
            </a:fld>
            <a:endParaRPr lang="en-IN" dirty="0"/>
          </a:p>
        </p:txBody>
      </p:sp>
    </p:spTree>
    <p:extLst>
      <p:ext uri="{BB962C8B-B14F-4D97-AF65-F5344CB8AC3E}">
        <p14:creationId xmlns:p14="http://schemas.microsoft.com/office/powerpoint/2010/main" val="28426989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smtClean="0"/>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53F1C30B-C7CB-4DE3-8AF4-6E194EE09BCE}" type="datetimeFigureOut">
              <a:rPr lang="en-IN" smtClean="0"/>
              <a:t>25-05-2023</a:t>
            </a:fld>
            <a:endParaRPr lang="en-IN" dirty="0"/>
          </a:p>
        </p:txBody>
      </p:sp>
      <p:sp>
        <p:nvSpPr>
          <p:cNvPr id="4"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A652545D-1084-406C-AF3C-EEB12A5E2031}" type="slidenum">
              <a:rPr lang="en-IN" smtClean="0"/>
              <a:t>‹#›</a:t>
            </a:fld>
            <a:endParaRPr lang="en-IN" dirty="0"/>
          </a:p>
        </p:txBody>
      </p:sp>
    </p:spTree>
    <p:extLst>
      <p:ext uri="{BB962C8B-B14F-4D97-AF65-F5344CB8AC3E}">
        <p14:creationId xmlns:p14="http://schemas.microsoft.com/office/powerpoint/2010/main" val="18530837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smtClean="0"/>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53F1C30B-C7CB-4DE3-8AF4-6E194EE09BCE}" type="datetimeFigureOut">
              <a:rPr lang="en-IN" smtClean="0"/>
              <a:t>25-05-2023</a:t>
            </a:fld>
            <a:endParaRPr lang="en-IN" dirty="0"/>
          </a:p>
        </p:txBody>
      </p:sp>
      <p:sp>
        <p:nvSpPr>
          <p:cNvPr id="4"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A652545D-1084-406C-AF3C-EEB12A5E2031}" type="slidenum">
              <a:rPr lang="en-IN" smtClean="0"/>
              <a:t>‹#›</a:t>
            </a:fld>
            <a:endParaRPr lang="en-IN" dirty="0"/>
          </a:p>
        </p:txBody>
      </p:sp>
    </p:spTree>
    <p:extLst>
      <p:ext uri="{BB962C8B-B14F-4D97-AF65-F5344CB8AC3E}">
        <p14:creationId xmlns:p14="http://schemas.microsoft.com/office/powerpoint/2010/main" val="342528355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53F1C30B-C7CB-4DE3-8AF4-6E194EE09BCE}" type="datetimeFigureOut">
              <a:rPr lang="en-IN" smtClean="0"/>
              <a:t>25-05-2023</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A652545D-1084-406C-AF3C-EEB12A5E2031}" type="slidenum">
              <a:rPr lang="en-IN" smtClean="0"/>
              <a:t>‹#›</a:t>
            </a:fld>
            <a:endParaRPr lang="en-IN" dirty="0"/>
          </a:p>
        </p:txBody>
      </p:sp>
    </p:spTree>
    <p:extLst>
      <p:ext uri="{BB962C8B-B14F-4D97-AF65-F5344CB8AC3E}">
        <p14:creationId xmlns:p14="http://schemas.microsoft.com/office/powerpoint/2010/main" val="4226096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53F1C30B-C7CB-4DE3-8AF4-6E194EE09BCE}" type="datetimeFigureOut">
              <a:rPr lang="en-IN" smtClean="0"/>
              <a:t>25-05-2023</a:t>
            </a:fld>
            <a:endParaRPr lang="en-IN" dirty="0"/>
          </a:p>
        </p:txBody>
      </p:sp>
      <p:sp>
        <p:nvSpPr>
          <p:cNvPr id="5" name="Footer Placeholder 4"/>
          <p:cNvSpPr>
            <a:spLocks noGrp="1"/>
          </p:cNvSpPr>
          <p:nvPr>
            <p:ph type="ftr" sz="quarter" idx="11"/>
          </p:nvPr>
        </p:nvSpPr>
        <p:spPr/>
        <p:txBody>
          <a:bodyPr/>
          <a:lstStyle/>
          <a:p>
            <a:endParaRPr lang="en-IN" dirty="0"/>
          </a:p>
        </p:txBody>
      </p:sp>
      <p:sp>
        <p:nvSpPr>
          <p:cNvPr id="6" name="Slide Number Placeholder 5"/>
          <p:cNvSpPr>
            <a:spLocks noGrp="1"/>
          </p:cNvSpPr>
          <p:nvPr>
            <p:ph type="sldNum" sz="quarter" idx="12"/>
          </p:nvPr>
        </p:nvSpPr>
        <p:spPr/>
        <p:txBody>
          <a:bodyPr/>
          <a:lstStyle/>
          <a:p>
            <a:fld id="{A652545D-1084-406C-AF3C-EEB12A5E2031}" type="slidenum">
              <a:rPr lang="en-IN" smtClean="0"/>
              <a:t>‹#›</a:t>
            </a:fld>
            <a:endParaRPr lang="en-IN" dirty="0"/>
          </a:p>
        </p:txBody>
      </p:sp>
    </p:spTree>
    <p:extLst>
      <p:ext uri="{BB962C8B-B14F-4D97-AF65-F5344CB8AC3E}">
        <p14:creationId xmlns:p14="http://schemas.microsoft.com/office/powerpoint/2010/main" val="419055675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19" Type="http://schemas.openxmlformats.org/officeDocument/2006/relationships/image" Target="../media/image2.png"/><Relationship Id="rId20" Type="http://schemas.openxmlformats.org/officeDocument/2006/relationships/image" Target="../media/image3.png"/><Relationship Id="rId21" Type="http://schemas.openxmlformats.org/officeDocument/2006/relationships/image" Target="../media/image4.png"/><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smtClean="0"/>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53F1C30B-C7CB-4DE3-8AF4-6E194EE09BCE}" type="datetimeFigureOut">
              <a:rPr lang="en-IN" smtClean="0"/>
              <a:t>25-05-2023</a:t>
            </a:fld>
            <a:endParaRPr lang="en-IN" dirty="0"/>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IN" dirty="0"/>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A652545D-1084-406C-AF3C-EEB12A5E2031}" type="slidenum">
              <a:rPr lang="en-IN" smtClean="0"/>
              <a:t>‹#›</a:t>
            </a:fld>
            <a:endParaRPr lang="en-IN" dirty="0"/>
          </a:p>
        </p:txBody>
      </p:sp>
    </p:spTree>
    <p:extLst>
      <p:ext uri="{BB962C8B-B14F-4D97-AF65-F5344CB8AC3E}">
        <p14:creationId xmlns:p14="http://schemas.microsoft.com/office/powerpoint/2010/main" val="267224355"/>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8.png"/><Relationship Id="rId5" Type="http://schemas.openxmlformats.org/officeDocument/2006/relationships/image" Target="../media/image1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20.png"/><Relationship Id="rId5"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271463" y="242888"/>
            <a:ext cx="11658600" cy="6386512"/>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lang="en-IN" dirty="0"/>
          </a:p>
        </p:txBody>
      </p:sp>
      <p:sp>
        <p:nvSpPr>
          <p:cNvPr id="2" name="TextBox 1"/>
          <p:cNvSpPr txBox="1"/>
          <p:nvPr/>
        </p:nvSpPr>
        <p:spPr>
          <a:xfrm>
            <a:off x="2034861" y="2446986"/>
            <a:ext cx="8190963" cy="1569660"/>
          </a:xfrm>
          <a:prstGeom prst="rect">
            <a:avLst/>
          </a:prstGeom>
          <a:noFill/>
        </p:spPr>
        <p:txBody>
          <a:bodyPr wrap="square" rtlCol="0">
            <a:spAutoFit/>
          </a:bodyPr>
          <a:lstStyle/>
          <a:p>
            <a:pPr algn="ctr"/>
            <a:r>
              <a:rPr lang="en-IN" sz="3200" dirty="0" smtClean="0">
                <a:solidFill>
                  <a:schemeClr val="tx2"/>
                </a:solidFill>
                <a:latin typeface="Copperplate Gothic Bold" panose="020E0705020206020404" pitchFamily="34" charset="0"/>
              </a:rPr>
              <a:t>HOUSE PRICE PREDICTION</a:t>
            </a:r>
          </a:p>
          <a:p>
            <a:pPr algn="ctr"/>
            <a:r>
              <a:rPr lang="en-IN" sz="3200" dirty="0" smtClean="0">
                <a:solidFill>
                  <a:schemeClr val="tx2"/>
                </a:solidFill>
                <a:latin typeface="Copperplate Gothic Bold" panose="020E0705020206020404" pitchFamily="34" charset="0"/>
              </a:rPr>
              <a:t>USING</a:t>
            </a:r>
          </a:p>
          <a:p>
            <a:pPr algn="ctr"/>
            <a:r>
              <a:rPr lang="en-IN" sz="3200" dirty="0" smtClean="0">
                <a:solidFill>
                  <a:schemeClr val="tx2"/>
                </a:solidFill>
                <a:latin typeface="Copperplate Gothic Bold" panose="020E0705020206020404" pitchFamily="34" charset="0"/>
              </a:rPr>
              <a:t>MACHINE LEARNING ALGORITHMS</a:t>
            </a:r>
            <a:endParaRPr lang="en-IN" sz="3200" dirty="0">
              <a:solidFill>
                <a:schemeClr val="tx2"/>
              </a:solidFill>
              <a:latin typeface="Copperplate Gothic Bold" panose="020E0705020206020404" pitchFamily="34" charset="0"/>
            </a:endParaRPr>
          </a:p>
        </p:txBody>
      </p:sp>
    </p:spTree>
    <p:extLst>
      <p:ext uri="{BB962C8B-B14F-4D97-AF65-F5344CB8AC3E}">
        <p14:creationId xmlns:p14="http://schemas.microsoft.com/office/powerpoint/2010/main" val="4015463123"/>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90055" y="465597"/>
            <a:ext cx="9404723" cy="1400530"/>
          </a:xfrm>
        </p:spPr>
        <p:txBody>
          <a:bodyPr>
            <a:normAutofit/>
          </a:bodyPr>
          <a:lstStyle/>
          <a:p>
            <a:pPr algn="ctr"/>
            <a:r>
              <a:rPr lang="en-US" b="1" dirty="0" smtClean="0">
                <a:latin typeface="Times New Roman" panose="02020603050405020304" pitchFamily="18" charset="0"/>
                <a:cs typeface="Times New Roman" panose="02020603050405020304" pitchFamily="18" charset="0"/>
              </a:rPr>
              <a:t>ABSTRACT</a:t>
            </a:r>
            <a:endParaRPr lang="en-IN" b="1"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42963" y="1362443"/>
            <a:ext cx="10528422" cy="4522542"/>
          </a:xfrm>
        </p:spPr>
        <p:txBody>
          <a:bodyPr>
            <a:normAutofit/>
          </a:bodyPr>
          <a:lstStyle/>
          <a:p>
            <a:pPr>
              <a:lnSpc>
                <a:spcPct val="150000"/>
              </a:lnSpc>
            </a:pPr>
            <a:r>
              <a:rPr sz="2000">
                <a:latin typeface="+mn-lt"/>
              </a:rPr>
              <a:t>House prices in Bengaluru depend on location, size, area and society in ways that are difficult to capture manually. In this project, the price of a house is predicted from its basic details using three regression models - Linear Regression, Ridge Regression and Random Forest - trained on 13,320 historical listings collected from Kaggle. The raw data is cleaned (area-unit conversion, removal of impossible rows), features are engineered (BHK count, completion year, frequency-encoded location and society), and the models are evaluated with a 70/30 holdout plus 5-fold cross validation on a log-price target. The tuned Random Forest explains 79% of the (log) price variation and is selected as the best model. The results are delivered through a Streamlit app, a custom FastAPI web UI and a REST API with Docker deployment.</a:t>
            </a:r>
          </a:p>
        </p:txBody>
      </p:sp>
      <p:sp>
        <p:nvSpPr>
          <p:cNvPr id="6" name="Rectangle 5"/>
          <p:cNvSpPr/>
          <p:nvPr/>
        </p:nvSpPr>
        <p:spPr>
          <a:xfrm>
            <a:off x="271463" y="242888"/>
            <a:ext cx="11658600" cy="6386512"/>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spTree>
    <p:extLst>
      <p:ext uri="{BB962C8B-B14F-4D97-AF65-F5344CB8AC3E}">
        <p14:creationId xmlns:p14="http://schemas.microsoft.com/office/powerpoint/2010/main" val="232298299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US" b="1" dirty="0" smtClean="0">
                <a:latin typeface="Times New Roman" panose="02020603050405020304" pitchFamily="18" charset="0"/>
                <a:cs typeface="Times New Roman" panose="02020603050405020304" pitchFamily="18" charset="0"/>
              </a:rPr>
              <a:t>OBJECTIVES</a:t>
            </a:r>
            <a:endParaRPr lang="en-IN" b="1"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455493" y="1613920"/>
            <a:ext cx="11281013" cy="4001269"/>
          </a:xfrm>
        </p:spPr>
        <p:txBody>
          <a:bodyPr>
            <a:normAutofit lnSpcReduction="10000"/>
          </a:bodyPr>
          <a:lstStyle/>
          <a:p>
            <a:pPr marL="0" indent="0">
              <a:lnSpc>
                <a:spcPct val="150000"/>
              </a:lnSpc>
              <a:buNone/>
            </a:pPr>
            <a:r>
              <a:rPr sz="3200">
                <a:latin typeface="Times New Roman"/>
              </a:rPr>
              <a:t>The main objective of this project is to predict house prices in Bengaluru from basic property details.</a:t>
            </a:r>
          </a:p>
          <a:p>
            <a:pPr marL="0" indent="0">
              <a:lnSpc>
                <a:spcPct val="150000"/>
              </a:lnSpc>
              <a:buNone/>
            </a:pPr>
            <a:r>
              <a:rPr sz="3200">
                <a:latin typeface="Times New Roman"/>
              </a:rPr>
              <a:t>To implement and compare three regression algorithms: Linear Regression, Ridge Regression and Random Forest.</a:t>
            </a:r>
          </a:p>
          <a:p>
            <a:pPr marL="0" indent="0">
              <a:lnSpc>
                <a:spcPct val="150000"/>
              </a:lnSpc>
              <a:buNone/>
            </a:pPr>
            <a:r>
              <a:rPr sz="3200">
                <a:latin typeface="Times New Roman"/>
              </a:rPr>
              <a:t>To build a complete data pipeline: cleaning, unit conversion, feature engineering and encoding.</a:t>
            </a:r>
          </a:p>
          <a:p>
            <a:pPr marL="0" indent="0">
              <a:lnSpc>
                <a:spcPct val="150000"/>
              </a:lnSpc>
              <a:buNone/>
            </a:pPr>
            <a:r>
              <a:rPr sz="3200">
                <a:latin typeface="Times New Roman"/>
              </a:rPr>
              <a:t>To evaluate the models with a 70/30 holdout split and 5-fold cross validation.</a:t>
            </a:r>
          </a:p>
          <a:p>
            <a:pPr marL="0" indent="0">
              <a:lnSpc>
                <a:spcPct val="150000"/>
              </a:lnSpc>
              <a:buNone/>
            </a:pPr>
            <a:r>
              <a:rPr sz="3200">
                <a:latin typeface="Times New Roman"/>
              </a:rPr>
              <a:t>To deliver predictions through a Streamlit app, a custom FastAPI web UI and a REST API.</a:t>
            </a:r>
          </a:p>
        </p:txBody>
      </p:sp>
      <p:sp>
        <p:nvSpPr>
          <p:cNvPr id="4" name="Rectangle 3"/>
          <p:cNvSpPr/>
          <p:nvPr/>
        </p:nvSpPr>
        <p:spPr>
          <a:xfrm>
            <a:off x="271463" y="242888"/>
            <a:ext cx="11658600" cy="6386512"/>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sp>
        <p:nvSpPr>
          <p:cNvPr id="5" name="Google Shape;391;p20"/>
          <p:cNvSpPr txBox="1"/>
          <p:nvPr/>
        </p:nvSpPr>
        <p:spPr>
          <a:xfrm>
            <a:off x="6087110" y="1600204"/>
            <a:ext cx="2002789" cy="5667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1600"/>
              </a:spcAft>
              <a:buNone/>
            </a:pPr>
            <a:endParaRPr sz="1600" b="1" dirty="0">
              <a:solidFill>
                <a:srgbClr val="000000"/>
              </a:solidFill>
              <a:latin typeface="Times New Roman" panose="02020603050405020304" pitchFamily="18" charset="0"/>
              <a:ea typeface="Roboto"/>
              <a:cs typeface="Times New Roman" panose="02020603050405020304" pitchFamily="18" charset="0"/>
              <a:sym typeface="Roboto"/>
            </a:endParaRPr>
          </a:p>
        </p:txBody>
      </p:sp>
    </p:spTree>
    <p:extLst>
      <p:ext uri="{BB962C8B-B14F-4D97-AF65-F5344CB8AC3E}">
        <p14:creationId xmlns:p14="http://schemas.microsoft.com/office/powerpoint/2010/main" val="3307877134"/>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US" b="1" dirty="0" smtClean="0">
                <a:latin typeface="Times New Roman" panose="02020603050405020304" pitchFamily="18" charset="0"/>
                <a:cs typeface="Times New Roman" panose="02020603050405020304" pitchFamily="18" charset="0"/>
              </a:rPr>
              <a:t>EXISTING SYSTEM</a:t>
            </a:r>
            <a:endParaRPr lang="en-IN" b="1"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455493" y="1363141"/>
            <a:ext cx="11281013" cy="5092249"/>
          </a:xfrm>
        </p:spPr>
        <p:txBody>
          <a:bodyPr>
            <a:normAutofit fontScale="92500" lnSpcReduction="10000"/>
          </a:bodyPr>
          <a:lstStyle/>
          <a:p>
            <a:pPr algn="just">
              <a:lnSpc>
                <a:spcPct val="150000"/>
              </a:lnSpc>
            </a:pPr>
            <a:r>
              <a:rPr sz="2000">
                <a:latin typeface="Times New Roman"/>
              </a:rPr>
              <a:t>In the existing process, price estimation relies on manual comparison of similar listings, broker intuition and spreadsheet heuristics. Data-driven predictive models for a city like Bengaluru are not readily available to an individual, and the process is slow, inconsistent and hard to scale across the 1,100+ localities of the city.</a:t>
            </a:r>
          </a:p>
        </p:txBody>
      </p:sp>
      <p:sp>
        <p:nvSpPr>
          <p:cNvPr id="4" name="Rectangle 3"/>
          <p:cNvSpPr/>
          <p:nvPr/>
        </p:nvSpPr>
        <p:spPr>
          <a:xfrm>
            <a:off x="271463" y="242888"/>
            <a:ext cx="11658600" cy="6386512"/>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spTree>
    <p:extLst>
      <p:ext uri="{BB962C8B-B14F-4D97-AF65-F5344CB8AC3E}">
        <p14:creationId xmlns:p14="http://schemas.microsoft.com/office/powerpoint/2010/main" val="819266643"/>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US" b="1" dirty="0" smtClean="0">
                <a:latin typeface="Times New Roman" panose="02020603050405020304" pitchFamily="18" charset="0"/>
                <a:cs typeface="Times New Roman" panose="02020603050405020304" pitchFamily="18" charset="0"/>
              </a:rPr>
              <a:t>DISADVANTAGES</a:t>
            </a:r>
            <a:endParaRPr lang="en-IN" b="1"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455493" y="1690688"/>
            <a:ext cx="11281013" cy="3460861"/>
          </a:xfrm>
        </p:spPr>
        <p:txBody>
          <a:bodyPr>
            <a:normAutofit/>
          </a:bodyPr>
          <a:lstStyle/>
          <a:p>
            <a:pPr algn="just">
              <a:lnSpc>
                <a:spcPct val="150000"/>
              </a:lnSpc>
            </a:pPr>
            <a:r>
              <a:rPr sz="3200">
                <a:latin typeface="Times New Roman"/>
              </a:rPr>
              <a:t>Manual comparison is slow and depends entirely on the estimator's experience.</a:t>
            </a:r>
          </a:p>
          <a:p>
            <a:pPr algn="just">
              <a:lnSpc>
                <a:spcPct val="150000"/>
              </a:lnSpc>
            </a:pPr>
            <a:r>
              <a:rPr sz="3200">
                <a:latin typeface="Times New Roman"/>
              </a:rPr>
              <a:t>There is no consistent, data-driven method across Bengaluru's many localities.</a:t>
            </a:r>
          </a:p>
          <a:p>
            <a:pPr algn="just">
              <a:lnSpc>
                <a:spcPct val="150000"/>
              </a:lnSpc>
            </a:pPr>
            <a:r>
              <a:rPr sz="3200">
                <a:latin typeface="Times New Roman"/>
              </a:rPr>
              <a:t>Human estimates cannot capture the interactions between area, BHK and location.</a:t>
            </a:r>
          </a:p>
          <a:p>
            <a:pPr algn="just">
              <a:lnSpc>
                <a:spcPct val="150000"/>
              </a:lnSpc>
            </a:pPr>
            <a:r>
              <a:rPr sz="3200">
                <a:latin typeface="Times New Roman"/>
              </a:rPr>
              <a:t>The results are not reproducible or auditable.</a:t>
            </a:r>
          </a:p>
        </p:txBody>
      </p:sp>
      <p:sp>
        <p:nvSpPr>
          <p:cNvPr id="4" name="Rectangle 3"/>
          <p:cNvSpPr/>
          <p:nvPr/>
        </p:nvSpPr>
        <p:spPr>
          <a:xfrm>
            <a:off x="271463" y="242888"/>
            <a:ext cx="11658600" cy="6386512"/>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spTree>
    <p:extLst>
      <p:ext uri="{BB962C8B-B14F-4D97-AF65-F5344CB8AC3E}">
        <p14:creationId xmlns:p14="http://schemas.microsoft.com/office/powerpoint/2010/main" val="1542297379"/>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US" b="1" dirty="0" smtClean="0">
                <a:latin typeface="Times New Roman" panose="02020603050405020304" pitchFamily="18" charset="0"/>
                <a:cs typeface="Times New Roman" panose="02020603050405020304" pitchFamily="18" charset="0"/>
              </a:rPr>
              <a:t>PROPOSED SYSTEM</a:t>
            </a:r>
            <a:endParaRPr lang="en-IN" b="1"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455493" y="1363141"/>
            <a:ext cx="11281013" cy="5092249"/>
          </a:xfrm>
        </p:spPr>
        <p:txBody>
          <a:bodyPr>
            <a:normAutofit/>
          </a:bodyPr>
          <a:lstStyle/>
          <a:p>
            <a:pPr algn="just">
              <a:lnSpc>
                <a:spcPct val="150000"/>
              </a:lnSpc>
            </a:pPr>
            <a:r>
              <a:rPr sz="2000">
                <a:latin typeface="Times New Roman"/>
              </a:rPr>
              <a:t>In this system, the Bengaluru housing dataset is taken from Kaggle. The data is cleaned - area values in sq.meter / yards / acre / perch are converted to sqft and rows with physically impossible measurements are removed - and features are engineered (BHK count, completion year, frequency-encoded location and society). Three regression models (Linear, Ridge and a tuned Random Forest) are trained on a log-price target and compared on a held-out test set. The trained models are deployed through a Streamlit app, a custom FastAPI web UI and a REST API, packaged in Docker.</a:t>
            </a:r>
          </a:p>
        </p:txBody>
      </p:sp>
      <p:sp>
        <p:nvSpPr>
          <p:cNvPr id="4" name="Rectangle 3"/>
          <p:cNvSpPr/>
          <p:nvPr/>
        </p:nvSpPr>
        <p:spPr>
          <a:xfrm>
            <a:off x="271463" y="242888"/>
            <a:ext cx="11658600" cy="6386512"/>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spTree>
    <p:extLst>
      <p:ext uri="{BB962C8B-B14F-4D97-AF65-F5344CB8AC3E}">
        <p14:creationId xmlns:p14="http://schemas.microsoft.com/office/powerpoint/2010/main" val="3212767931"/>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US" b="1" dirty="0" smtClean="0">
                <a:latin typeface="Times New Roman" panose="02020603050405020304" pitchFamily="18" charset="0"/>
                <a:cs typeface="Times New Roman" panose="02020603050405020304" pitchFamily="18" charset="0"/>
              </a:rPr>
              <a:t>ADVANTAGES</a:t>
            </a:r>
            <a:endParaRPr lang="en-IN" b="1"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455493" y="1659388"/>
            <a:ext cx="11281013" cy="3930043"/>
          </a:xfrm>
        </p:spPr>
        <p:txBody>
          <a:bodyPr>
            <a:normAutofit/>
          </a:bodyPr>
          <a:lstStyle/>
          <a:p>
            <a:pPr algn="just">
              <a:lnSpc>
                <a:spcPct val="150000"/>
              </a:lnSpc>
            </a:pPr>
            <a:r>
              <a:rPr sz="3200">
                <a:latin typeface="Times New Roman"/>
              </a:rPr>
              <a:t>Efficient on the full dataset of 13,320 listings across ~1,100 localities.</a:t>
            </a:r>
          </a:p>
          <a:p>
            <a:pPr algn="just">
              <a:lnSpc>
                <a:spcPct val="150000"/>
              </a:lnSpc>
            </a:pPr>
            <a:r>
              <a:rPr sz="3200">
                <a:latin typeface="Times New Roman"/>
              </a:rPr>
              <a:t>Unwanted data is removed and all area units are normalized before training.</a:t>
            </a:r>
          </a:p>
          <a:p>
            <a:pPr algn="just">
              <a:lnSpc>
                <a:spcPct val="150000"/>
              </a:lnSpc>
            </a:pPr>
            <a:r>
              <a:rPr sz="3200">
                <a:latin typeface="Times New Roman"/>
              </a:rPr>
              <a:t>Three models are compared with cross validation; the best model is chosen by evidence.</a:t>
            </a:r>
          </a:p>
          <a:p>
            <a:pPr algn="just">
              <a:lnSpc>
                <a:spcPct val="150000"/>
              </a:lnSpc>
            </a:pPr>
            <a:r>
              <a:rPr sz="3200">
                <a:latin typeface="Times New Roman"/>
              </a:rPr>
              <a:t>Non-linear interactions (area x BHK x location) are captured by the Random Forest.</a:t>
            </a:r>
          </a:p>
          <a:p>
            <a:pPr algn="just">
              <a:lnSpc>
                <a:spcPct val="150000"/>
              </a:lnSpc>
            </a:pPr>
            <a:r>
              <a:rPr sz="3200">
                <a:latin typeface="Times New Roman"/>
              </a:rPr>
              <a:t>Instant prediction through a web app and a REST API; one-command Docker deployment.</a:t>
            </a:r>
          </a:p>
        </p:txBody>
      </p:sp>
      <p:sp>
        <p:nvSpPr>
          <p:cNvPr id="4" name="Rectangle 3"/>
          <p:cNvSpPr/>
          <p:nvPr/>
        </p:nvSpPr>
        <p:spPr>
          <a:xfrm>
            <a:off x="271463" y="242888"/>
            <a:ext cx="11658600" cy="6386512"/>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spTree>
    <p:extLst>
      <p:ext uri="{BB962C8B-B14F-4D97-AF65-F5344CB8AC3E}">
        <p14:creationId xmlns:p14="http://schemas.microsoft.com/office/powerpoint/2010/main" val="368901449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2963" y="228647"/>
            <a:ext cx="10515600" cy="1325563"/>
          </a:xfrm>
        </p:spPr>
        <p:txBody>
          <a:bodyPr>
            <a:normAutofit/>
          </a:bodyPr>
          <a:lstStyle/>
          <a:p>
            <a:pPr algn="ctr"/>
            <a:r>
              <a:rPr lang="en-US" b="1" dirty="0" smtClean="0">
                <a:latin typeface="Times New Roman" panose="02020603050405020304" pitchFamily="18" charset="0"/>
                <a:cs typeface="Times New Roman" panose="02020603050405020304" pitchFamily="18" charset="0"/>
              </a:rPr>
              <a:t>FLOW DIAGRAM</a:t>
            </a:r>
            <a:endParaRPr lang="en-IN" b="1" dirty="0">
              <a:latin typeface="Times New Roman" panose="02020603050405020304" pitchFamily="18" charset="0"/>
              <a:cs typeface="Times New Roman" panose="02020603050405020304" pitchFamily="18" charset="0"/>
            </a:endParaRPr>
          </a:p>
        </p:txBody>
      </p:sp>
      <p:sp>
        <p:nvSpPr>
          <p:cNvPr id="4" name="Rectangle 3"/>
          <p:cNvSpPr/>
          <p:nvPr/>
        </p:nvSpPr>
        <p:spPr>
          <a:xfrm>
            <a:off x="271463" y="242888"/>
            <a:ext cx="11658600" cy="6386512"/>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grpSp>
        <p:nvGrpSpPr>
          <p:cNvPr id="5" name="Group 4"/>
          <p:cNvGrpSpPr/>
          <p:nvPr/>
        </p:nvGrpSpPr>
        <p:grpSpPr>
          <a:xfrm>
            <a:off x="1992574" y="1555844"/>
            <a:ext cx="8052178" cy="4821939"/>
            <a:chOff x="0" y="0"/>
            <a:chExt cx="7020203" cy="5350505"/>
          </a:xfrm>
        </p:grpSpPr>
        <p:sp>
          <p:nvSpPr>
            <p:cNvPr id="6" name="Rectangle 5"/>
            <p:cNvSpPr/>
            <p:nvPr/>
          </p:nvSpPr>
          <p:spPr>
            <a:xfrm>
              <a:off x="3027109" y="154156"/>
              <a:ext cx="1502505" cy="623213"/>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spcAft>
                  <a:spcPts val="0"/>
                </a:spcAft>
              </a:pPr>
              <a:r>
                <a:rPr sz="1200">
                  <a:latin typeface="Times New Roman"/>
                </a:rPr>
                <a:t>Data loading</a:t>
              </a:r>
              <a:endParaRPr lang="en-IN" sz="1200">
                <a:effectLst/>
                <a:latin typeface="Times New Roman" panose="02020603050405020304" pitchFamily="18" charset="0"/>
                <a:ea typeface="Times New Roman" panose="02020603050405020304" pitchFamily="18" charset="0"/>
              </a:endParaRPr>
            </a:p>
          </p:txBody>
        </p:sp>
        <p:sp>
          <p:nvSpPr>
            <p:cNvPr id="7" name="Rectangle 6"/>
            <p:cNvSpPr/>
            <p:nvPr/>
          </p:nvSpPr>
          <p:spPr>
            <a:xfrm>
              <a:off x="3027109" y="1162052"/>
              <a:ext cx="1502505" cy="623213"/>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spcAft>
                  <a:spcPts val="0"/>
                </a:spcAft>
              </a:pPr>
              <a:r>
                <a:rPr sz="1200">
                  <a:latin typeface="Times New Roman"/>
                </a:rPr>
                <a:t>Preprocessing &amp; features</a:t>
              </a:r>
              <a:endParaRPr lang="en-IN" sz="1200">
                <a:effectLst/>
                <a:latin typeface="Times New Roman" panose="02020603050405020304" pitchFamily="18" charset="0"/>
                <a:ea typeface="Times New Roman" panose="02020603050405020304" pitchFamily="18" charset="0"/>
              </a:endParaRPr>
            </a:p>
          </p:txBody>
        </p:sp>
        <p:sp>
          <p:nvSpPr>
            <p:cNvPr id="8" name="Rectangle 7"/>
            <p:cNvSpPr/>
            <p:nvPr/>
          </p:nvSpPr>
          <p:spPr>
            <a:xfrm>
              <a:off x="3027109" y="2219295"/>
              <a:ext cx="1502505" cy="623213"/>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spcAft>
                  <a:spcPts val="0"/>
                </a:spcAft>
              </a:pPr>
              <a:r>
                <a:rPr sz="1200">
                  <a:latin typeface="Times New Roman"/>
                </a:rPr>
                <a:t>Data splitting 70/30</a:t>
              </a:r>
              <a:endParaRPr lang="en-IN" sz="1200">
                <a:effectLst/>
                <a:latin typeface="Times New Roman" panose="02020603050405020304" pitchFamily="18" charset="0"/>
                <a:ea typeface="Times New Roman" panose="02020603050405020304" pitchFamily="18" charset="0"/>
              </a:endParaRPr>
            </a:p>
          </p:txBody>
        </p:sp>
        <p:sp>
          <p:nvSpPr>
            <p:cNvPr id="9" name="Rectangle 8"/>
            <p:cNvSpPr/>
            <p:nvPr/>
          </p:nvSpPr>
          <p:spPr>
            <a:xfrm>
              <a:off x="3027109" y="3276538"/>
              <a:ext cx="1502505" cy="623213"/>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spcAft>
                  <a:spcPts val="0"/>
                </a:spcAft>
              </a:pPr>
              <a:r>
                <a:rPr sz="1200">
                  <a:latin typeface="Times New Roman"/>
                </a:rPr>
                <a:t>Model training</a:t>
              </a:r>
              <a:endParaRPr lang="en-IN" sz="1200">
                <a:effectLst/>
                <a:latin typeface="Times New Roman" panose="02020603050405020304" pitchFamily="18" charset="0"/>
                <a:ea typeface="Times New Roman" panose="02020603050405020304" pitchFamily="18" charset="0"/>
              </a:endParaRPr>
            </a:p>
          </p:txBody>
        </p:sp>
        <p:sp>
          <p:nvSpPr>
            <p:cNvPr id="10" name="Rectangle 9"/>
            <p:cNvSpPr/>
            <p:nvPr/>
          </p:nvSpPr>
          <p:spPr>
            <a:xfrm>
              <a:off x="3027109" y="4336739"/>
              <a:ext cx="1502505" cy="623213"/>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spcAft>
                  <a:spcPts val="0"/>
                </a:spcAft>
              </a:pPr>
              <a:r>
                <a:rPr sz="1200">
                  <a:latin typeface="Times New Roman"/>
                </a:rPr>
                <a:t>Evaluation (R2, MAE)</a:t>
              </a:r>
              <a:endParaRPr lang="en-IN" sz="1200">
                <a:effectLst/>
                <a:latin typeface="Times New Roman" panose="02020603050405020304" pitchFamily="18" charset="0"/>
                <a:ea typeface="Times New Roman" panose="02020603050405020304" pitchFamily="18" charset="0"/>
              </a:endParaRPr>
            </a:p>
          </p:txBody>
        </p:sp>
        <p:sp>
          <p:nvSpPr>
            <p:cNvPr id="11" name="Flowchart: Multidocument 10"/>
            <p:cNvSpPr/>
            <p:nvPr/>
          </p:nvSpPr>
          <p:spPr>
            <a:xfrm>
              <a:off x="0" y="0"/>
              <a:ext cx="1956751" cy="1119610"/>
            </a:xfrm>
            <a:prstGeom prst="flowChartMultidocument">
              <a:avLst/>
            </a:prstGeom>
            <a:ln/>
          </p:spPr>
          <p:style>
            <a:lnRef idx="2">
              <a:schemeClr val="dk1"/>
            </a:lnRef>
            <a:fillRef idx="1">
              <a:schemeClr val="lt1"/>
            </a:fillRef>
            <a:effectRef idx="0">
              <a:schemeClr val="dk1"/>
            </a:effectRef>
            <a:fontRef idx="minor">
              <a:schemeClr val="dk1"/>
            </a:fontRef>
          </p:style>
          <p:txBody>
            <a:bodyPr rtlCol="0" anchor="ctr"/>
            <a:lstStyle/>
            <a:p>
              <a:pPr algn="ctr">
                <a:spcAft>
                  <a:spcPts val="0"/>
                </a:spcAft>
              </a:pPr>
              <a:r>
                <a:rPr sz="1200">
                  <a:latin typeface="Times New Roman"/>
                </a:rPr>
                <a:t>Bengaluru housing dataset (Kaggle)</a:t>
              </a:r>
              <a:endParaRPr lang="en-IN" sz="1200" dirty="0">
                <a:effectLst/>
                <a:latin typeface="Times New Roman" panose="02020603050405020304" pitchFamily="18" charset="0"/>
                <a:ea typeface="Times New Roman" panose="02020603050405020304" pitchFamily="18" charset="0"/>
              </a:endParaRPr>
            </a:p>
          </p:txBody>
        </p:sp>
        <p:sp>
          <p:nvSpPr>
            <p:cNvPr id="12" name="Rectangle 11"/>
            <p:cNvSpPr/>
            <p:nvPr/>
          </p:nvSpPr>
          <p:spPr>
            <a:xfrm>
              <a:off x="5168278" y="454934"/>
              <a:ext cx="1851925" cy="2146518"/>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endParaRPr lang="en-IN"/>
            </a:p>
          </p:txBody>
        </p:sp>
        <p:sp>
          <p:nvSpPr>
            <p:cNvPr id="13" name="Rectangle 12"/>
            <p:cNvSpPr/>
            <p:nvPr/>
          </p:nvSpPr>
          <p:spPr>
            <a:xfrm>
              <a:off x="5296398" y="634227"/>
              <a:ext cx="1595683" cy="497650"/>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spcAft>
                  <a:spcPts val="0"/>
                </a:spcAft>
              </a:pPr>
              <a:r>
                <a:rPr sz="1200">
                  <a:latin typeface="Times New Roman"/>
                </a:rPr>
                <a:t>Unit conversion + row cleaning</a:t>
              </a:r>
              <a:endParaRPr lang="en-IN" sz="1200">
                <a:effectLst/>
                <a:latin typeface="Times New Roman" panose="02020603050405020304" pitchFamily="18" charset="0"/>
                <a:ea typeface="Times New Roman" panose="02020603050405020304" pitchFamily="18" charset="0"/>
              </a:endParaRPr>
            </a:p>
          </p:txBody>
        </p:sp>
        <p:cxnSp>
          <p:nvCxnSpPr>
            <p:cNvPr id="14" name="Straight Arrow Connector 13"/>
            <p:cNvCxnSpPr/>
            <p:nvPr/>
          </p:nvCxnSpPr>
          <p:spPr>
            <a:xfrm>
              <a:off x="1956751" y="454934"/>
              <a:ext cx="1070358" cy="1082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p:cNvCxnSpPr/>
            <p:nvPr/>
          </p:nvCxnSpPr>
          <p:spPr>
            <a:xfrm>
              <a:off x="3778362" y="777369"/>
              <a:ext cx="0" cy="38468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a:off x="3778361" y="1785265"/>
              <a:ext cx="0" cy="38468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p:nvCxnSpPr>
          <p:spPr>
            <a:xfrm>
              <a:off x="3776419" y="2842508"/>
              <a:ext cx="0" cy="38468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a:off x="3774477" y="3899751"/>
              <a:ext cx="0" cy="38468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Elbow Connector 18"/>
            <p:cNvCxnSpPr/>
            <p:nvPr/>
          </p:nvCxnSpPr>
          <p:spPr>
            <a:xfrm flipV="1">
              <a:off x="4529615" y="1275019"/>
              <a:ext cx="638663" cy="198640"/>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Elbow Connector 19"/>
            <p:cNvCxnSpPr/>
            <p:nvPr/>
          </p:nvCxnSpPr>
          <p:spPr>
            <a:xfrm rot="10800000" flipV="1">
              <a:off x="2357388" y="4648345"/>
              <a:ext cx="669721" cy="121272"/>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 name="Rectangle 20"/>
            <p:cNvSpPr/>
            <p:nvPr/>
          </p:nvSpPr>
          <p:spPr>
            <a:xfrm>
              <a:off x="5296398" y="2951521"/>
              <a:ext cx="1723805" cy="1686503"/>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endParaRPr lang="en-IN"/>
            </a:p>
          </p:txBody>
        </p:sp>
        <p:sp>
          <p:nvSpPr>
            <p:cNvPr id="22" name="Rectangle 21"/>
            <p:cNvSpPr/>
            <p:nvPr/>
          </p:nvSpPr>
          <p:spPr>
            <a:xfrm>
              <a:off x="5523519" y="3202991"/>
              <a:ext cx="1269562" cy="497650"/>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spcAft>
                  <a:spcPts val="0"/>
                </a:spcAft>
              </a:pPr>
              <a:r>
                <a:rPr sz="1200">
                  <a:latin typeface="Times New Roman"/>
                </a:rPr>
                <a:t>Linear + Ridge + Random Forest</a:t>
              </a:r>
              <a:endParaRPr lang="en-IN" sz="1200">
                <a:effectLst/>
                <a:latin typeface="Times New Roman" panose="02020603050405020304" pitchFamily="18" charset="0"/>
                <a:ea typeface="Times New Roman" panose="02020603050405020304" pitchFamily="18" charset="0"/>
              </a:endParaRPr>
            </a:p>
          </p:txBody>
        </p:sp>
        <p:sp>
          <p:nvSpPr>
            <p:cNvPr id="23" name="Rectangle 22"/>
            <p:cNvSpPr/>
            <p:nvPr/>
          </p:nvSpPr>
          <p:spPr>
            <a:xfrm>
              <a:off x="5523519" y="3911580"/>
              <a:ext cx="1269562" cy="497650"/>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spcAft>
                  <a:spcPts val="0"/>
                </a:spcAft>
              </a:pPr>
              <a:r>
                <a:rPr sz="1200">
                  <a:latin typeface="Times New Roman"/>
                </a:rPr>
                <a:t>5-fold CV + tuning</a:t>
              </a:r>
              <a:endParaRPr lang="en-IN" sz="1200">
                <a:effectLst/>
                <a:latin typeface="Times New Roman" panose="02020603050405020304" pitchFamily="18" charset="0"/>
                <a:ea typeface="Times New Roman" panose="02020603050405020304" pitchFamily="18" charset="0"/>
              </a:endParaRPr>
            </a:p>
          </p:txBody>
        </p:sp>
        <p:sp>
          <p:nvSpPr>
            <p:cNvPr id="24" name="Rectangle 23"/>
            <p:cNvSpPr/>
            <p:nvPr/>
          </p:nvSpPr>
          <p:spPr>
            <a:xfrm>
              <a:off x="5296398" y="1324229"/>
              <a:ext cx="1595683" cy="497650"/>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spcAft>
                  <a:spcPts val="0"/>
                </a:spcAft>
              </a:pPr>
              <a:r>
                <a:rPr sz="1200">
                  <a:latin typeface="Times New Roman"/>
                </a:rPr>
                <a:t>BHK / year derivation</a:t>
              </a:r>
              <a:endParaRPr lang="en-IN" sz="1200">
                <a:effectLst/>
                <a:latin typeface="Times New Roman" panose="02020603050405020304" pitchFamily="18" charset="0"/>
                <a:ea typeface="Times New Roman" panose="02020603050405020304" pitchFamily="18" charset="0"/>
              </a:endParaRPr>
            </a:p>
          </p:txBody>
        </p:sp>
        <p:sp>
          <p:nvSpPr>
            <p:cNvPr id="25" name="Rectangle 24"/>
            <p:cNvSpPr/>
            <p:nvPr/>
          </p:nvSpPr>
          <p:spPr>
            <a:xfrm>
              <a:off x="124572" y="1963244"/>
              <a:ext cx="1851925" cy="1349843"/>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endParaRPr lang="en-IN"/>
            </a:p>
          </p:txBody>
        </p:sp>
        <p:sp>
          <p:nvSpPr>
            <p:cNvPr id="26" name="Rectangle 25"/>
            <p:cNvSpPr/>
            <p:nvPr/>
          </p:nvSpPr>
          <p:spPr>
            <a:xfrm>
              <a:off x="299281" y="2107789"/>
              <a:ext cx="1502505" cy="431504"/>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spcAft>
                  <a:spcPts val="0"/>
                </a:spcAft>
              </a:pPr>
              <a:r>
                <a:rPr sz="1200">
                  <a:latin typeface="Times New Roman"/>
                </a:rPr>
                <a:t>Test (3,979 rows)</a:t>
              </a:r>
              <a:endParaRPr lang="en-IN" sz="1200">
                <a:effectLst/>
                <a:latin typeface="Times New Roman" panose="02020603050405020304" pitchFamily="18" charset="0"/>
                <a:ea typeface="Times New Roman" panose="02020603050405020304" pitchFamily="18" charset="0"/>
              </a:endParaRPr>
            </a:p>
          </p:txBody>
        </p:sp>
        <p:sp>
          <p:nvSpPr>
            <p:cNvPr id="27" name="Rectangle 26"/>
            <p:cNvSpPr/>
            <p:nvPr/>
          </p:nvSpPr>
          <p:spPr>
            <a:xfrm>
              <a:off x="5333553" y="1982241"/>
              <a:ext cx="1595683" cy="497650"/>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spcAft>
                  <a:spcPts val="0"/>
                </a:spcAft>
              </a:pPr>
              <a:r>
                <a:rPr sz="1200">
                  <a:latin typeface="Times New Roman"/>
                </a:rPr>
                <a:t>Frequency encoding</a:t>
              </a:r>
              <a:endParaRPr lang="en-IN" sz="1200">
                <a:effectLst/>
                <a:latin typeface="Times New Roman" panose="02020603050405020304" pitchFamily="18" charset="0"/>
                <a:ea typeface="Times New Roman" panose="02020603050405020304" pitchFamily="18" charset="0"/>
              </a:endParaRPr>
            </a:p>
          </p:txBody>
        </p:sp>
        <p:sp>
          <p:nvSpPr>
            <p:cNvPr id="28" name="Rectangle 27"/>
            <p:cNvSpPr/>
            <p:nvPr/>
          </p:nvSpPr>
          <p:spPr>
            <a:xfrm>
              <a:off x="293308" y="2706242"/>
              <a:ext cx="1502505" cy="431504"/>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spcAft>
                  <a:spcPts val="0"/>
                </a:spcAft>
              </a:pPr>
              <a:r>
                <a:rPr sz="1200">
                  <a:latin typeface="Times New Roman"/>
                </a:rPr>
                <a:t>Train (9,282 rows)</a:t>
              </a:r>
              <a:endParaRPr lang="en-IN" sz="1200">
                <a:effectLst/>
                <a:latin typeface="Times New Roman" panose="02020603050405020304" pitchFamily="18" charset="0"/>
                <a:ea typeface="Times New Roman" panose="02020603050405020304" pitchFamily="18" charset="0"/>
              </a:endParaRPr>
            </a:p>
          </p:txBody>
        </p:sp>
        <p:cxnSp>
          <p:nvCxnSpPr>
            <p:cNvPr id="29" name="Elbow Connector 28"/>
            <p:cNvCxnSpPr/>
            <p:nvPr/>
          </p:nvCxnSpPr>
          <p:spPr>
            <a:xfrm rot="10800000" flipV="1">
              <a:off x="1976497" y="2530902"/>
              <a:ext cx="1050612" cy="107264"/>
            </a:xfrm>
            <a:prstGeom prst="bentConnector3">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Elbow Connector 29"/>
            <p:cNvCxnSpPr/>
            <p:nvPr/>
          </p:nvCxnSpPr>
          <p:spPr>
            <a:xfrm>
              <a:off x="4529613" y="3588145"/>
              <a:ext cx="800534" cy="63164"/>
            </a:xfrm>
            <a:prstGeom prst="bentConnector3">
              <a:avLst>
                <a:gd name="adj1" fmla="val 50000"/>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1" name="Rectangle 30"/>
            <p:cNvSpPr/>
            <p:nvPr/>
          </p:nvSpPr>
          <p:spPr>
            <a:xfrm>
              <a:off x="490394" y="4000662"/>
              <a:ext cx="1851925" cy="1349843"/>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endParaRPr lang="en-IN"/>
            </a:p>
          </p:txBody>
        </p:sp>
        <p:sp>
          <p:nvSpPr>
            <p:cNvPr id="32" name="Rectangle 31"/>
            <p:cNvSpPr/>
            <p:nvPr/>
          </p:nvSpPr>
          <p:spPr>
            <a:xfrm>
              <a:off x="665103" y="4135336"/>
              <a:ext cx="1502505" cy="431504"/>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spcAft>
                  <a:spcPts val="0"/>
                </a:spcAft>
              </a:pPr>
              <a:r>
                <a:rPr sz="1200">
                  <a:latin typeface="Times New Roman"/>
                </a:rPr>
                <a:t>Save models</a:t>
              </a:r>
              <a:endParaRPr lang="en-IN" sz="1200">
                <a:effectLst/>
                <a:latin typeface="Times New Roman" panose="02020603050405020304" pitchFamily="18" charset="0"/>
                <a:ea typeface="Times New Roman" panose="02020603050405020304" pitchFamily="18" charset="0"/>
              </a:endParaRPr>
            </a:p>
          </p:txBody>
        </p:sp>
        <p:sp>
          <p:nvSpPr>
            <p:cNvPr id="33" name="Rectangle 32"/>
            <p:cNvSpPr/>
            <p:nvPr/>
          </p:nvSpPr>
          <p:spPr>
            <a:xfrm>
              <a:off x="665103" y="4769618"/>
              <a:ext cx="1502505" cy="431504"/>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ctr">
                <a:spcAft>
                  <a:spcPts val="0"/>
                </a:spcAft>
              </a:pPr>
              <a:r>
                <a:rPr sz="1200">
                  <a:latin typeface="Times New Roman"/>
                </a:rPr>
                <a:t>Web app + REST API</a:t>
              </a:r>
              <a:endParaRPr lang="en-IN" sz="1200">
                <a:effectLst/>
                <a:latin typeface="Times New Roman" panose="02020603050405020304" pitchFamily="18" charset="0"/>
                <a:ea typeface="Times New Roman" panose="02020603050405020304" pitchFamily="18" charset="0"/>
              </a:endParaRPr>
            </a:p>
          </p:txBody>
        </p:sp>
        <p:cxnSp>
          <p:nvCxnSpPr>
            <p:cNvPr id="34" name="Straight Arrow Connector 33"/>
            <p:cNvCxnSpPr/>
            <p:nvPr/>
          </p:nvCxnSpPr>
          <p:spPr>
            <a:xfrm>
              <a:off x="1416356" y="4566840"/>
              <a:ext cx="0" cy="20277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99301521"/>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IN" b="1" dirty="0" smtClean="0">
                <a:latin typeface="Times New Roman" panose="02020603050405020304" pitchFamily="18" charset="0"/>
                <a:cs typeface="Times New Roman" panose="02020603050405020304" pitchFamily="18" charset="0"/>
              </a:rPr>
              <a:t>MODULES</a:t>
            </a:r>
            <a:endParaRPr lang="en-IN" b="1"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p:txBody>
          <a:bodyPr>
            <a:normAutofit/>
          </a:bodyPr>
          <a:lstStyle/>
          <a:p>
            <a:pPr lvl="0" algn="just">
              <a:lnSpc>
                <a:spcPct val="150000"/>
              </a:lnSpc>
            </a:pPr>
            <a:r>
              <a:rPr sz="2000">
                <a:latin typeface="Times New Roman"/>
              </a:rPr>
              <a:t>Data selection</a:t>
            </a:r>
          </a:p>
          <a:p>
            <a:pPr lvl="0" algn="just">
              <a:lnSpc>
                <a:spcPct val="150000"/>
              </a:lnSpc>
            </a:pPr>
            <a:r>
              <a:rPr sz="2000">
                <a:latin typeface="Times New Roman"/>
              </a:rPr>
              <a:t>Data preprocessing and feature engineering</a:t>
            </a:r>
          </a:p>
          <a:p>
            <a:pPr lvl="0" algn="just">
              <a:lnSpc>
                <a:spcPct val="150000"/>
              </a:lnSpc>
            </a:pPr>
            <a:r>
              <a:rPr sz="2000">
                <a:latin typeface="Times New Roman"/>
              </a:rPr>
              <a:t>Data splitting</a:t>
            </a:r>
          </a:p>
          <a:p>
            <a:pPr lvl="0" algn="just">
              <a:lnSpc>
                <a:spcPct val="150000"/>
              </a:lnSpc>
            </a:pPr>
            <a:r>
              <a:rPr sz="2000">
                <a:latin typeface="Times New Roman"/>
              </a:rPr>
              <a:t>Model training (Linear / Ridge / Random Forest)</a:t>
            </a:r>
          </a:p>
          <a:p>
            <a:pPr lvl="0" algn="just">
              <a:lnSpc>
                <a:spcPct val="150000"/>
              </a:lnSpc>
            </a:pPr>
            <a:r>
              <a:rPr sz="2000">
                <a:latin typeface="Times New Roman"/>
              </a:rPr>
              <a:t>Evaluation and diagnostics</a:t>
            </a:r>
          </a:p>
          <a:p>
            <a:pPr lvl="0" algn="just">
              <a:lnSpc>
                <a:spcPct val="150000"/>
              </a:lnSpc>
            </a:pPr>
            <a:r>
              <a:rPr sz="2000">
                <a:latin typeface="Times New Roman"/>
              </a:rPr>
              <a:t>Prediction - web app + REST API</a:t>
            </a:r>
          </a:p>
        </p:txBody>
      </p:sp>
      <p:sp>
        <p:nvSpPr>
          <p:cNvPr id="4" name="Rectangle 3"/>
          <p:cNvSpPr/>
          <p:nvPr/>
        </p:nvSpPr>
        <p:spPr>
          <a:xfrm>
            <a:off x="271463" y="242888"/>
            <a:ext cx="11658600" cy="6386512"/>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lang="en-IN" dirty="0"/>
          </a:p>
        </p:txBody>
      </p:sp>
    </p:spTree>
    <p:extLst>
      <p:ext uri="{BB962C8B-B14F-4D97-AF65-F5344CB8AC3E}">
        <p14:creationId xmlns:p14="http://schemas.microsoft.com/office/powerpoint/2010/main" val="171302222"/>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1528763" y="2782403"/>
            <a:ext cx="9144000" cy="833485"/>
          </a:xfrm>
        </p:spPr>
        <p:txBody>
          <a:bodyPr>
            <a:normAutofit/>
          </a:bodyPr>
          <a:lstStyle/>
          <a:p>
            <a:pPr algn="ctr"/>
            <a:r>
              <a:rPr lang="en-IN" sz="4400" b="1" dirty="0" smtClean="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Modules description</a:t>
            </a:r>
            <a:endParaRPr lang="en-IN" sz="4400"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7" name="Rectangle 6"/>
          <p:cNvSpPr/>
          <p:nvPr/>
        </p:nvSpPr>
        <p:spPr>
          <a:xfrm>
            <a:off x="271463" y="242888"/>
            <a:ext cx="11658600" cy="6386512"/>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lang="en-IN" dirty="0"/>
          </a:p>
        </p:txBody>
      </p:sp>
    </p:spTree>
    <p:extLst>
      <p:ext uri="{BB962C8B-B14F-4D97-AF65-F5344CB8AC3E}">
        <p14:creationId xmlns:p14="http://schemas.microsoft.com/office/powerpoint/2010/main" val="82328657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US" b="1" dirty="0" smtClean="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DATA SELECTION</a:t>
            </a:r>
            <a:endParaRPr lang="en-IN" b="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p:txBody>
          <a:bodyPr>
            <a:normAutofit/>
          </a:bodyPr>
          <a:lstStyle/>
          <a:p>
            <a:pPr lvl="0" algn="just">
              <a:lnSpc>
                <a:spcPct val="150000"/>
              </a:lnSpc>
            </a:pPr>
            <a:r>
              <a:rPr sz="2000">
                <a:latin typeface="Times New Roman"/>
              </a:rPr>
              <a:t>The input data is collected from Kaggle - the 'Bengaluru House price data' set (CC0 license), a historical snapshot of listings from roughly 2017-2020. The dataset contains 13,320 listings with 9 columns: area type, availability, location, size, society, total area, bathrooms, balconies and price (Lakh INR).</a:t>
            </a:r>
            <a:endParaRPr lang="en-IN" sz="2000" dirty="0">
              <a:latin typeface="Times New Roman" panose="02020603050405020304" pitchFamily="18" charset="0"/>
              <a:cs typeface="Times New Roman" panose="02020603050405020304" pitchFamily="18" charset="0"/>
            </a:endParaRPr>
          </a:p>
        </p:txBody>
      </p:sp>
      <p:sp>
        <p:nvSpPr>
          <p:cNvPr id="4" name="Rectangle 3"/>
          <p:cNvSpPr/>
          <p:nvPr/>
        </p:nvSpPr>
        <p:spPr>
          <a:xfrm>
            <a:off x="271463" y="242888"/>
            <a:ext cx="11658600" cy="6386512"/>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spTree>
    <p:extLst>
      <p:ext uri="{BB962C8B-B14F-4D97-AF65-F5344CB8AC3E}">
        <p14:creationId xmlns:p14="http://schemas.microsoft.com/office/powerpoint/2010/main" val="3380675391"/>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US" b="1" dirty="0" smtClean="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DATA SELECTION</a:t>
            </a:r>
            <a:endParaRPr lang="en-IN" b="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pic>
        <p:nvPicPr>
          <p:cNvPr id="6" name="Content Placeholder 5"/>
          <p:cNvPicPr>
            <a:picLocks noGrp="1"/>
          </p:cNvPicPr>
          <p:nvPr>
            <p:ph idx="1"/>
          </p:nvPr>
        </p:nvPicPr>
        <p:blipFill>
          <a:blip r:embed="rId2"/>
          <a:stretch>
            <a:fillRect/>
          </a:stretch>
        </p:blipFill>
        <p:spPr>
          <a:xfrm>
            <a:off x="3425311" y="2063078"/>
            <a:ext cx="4457700" cy="2400300"/>
          </a:xfrm>
          <a:prstGeom prst="rect">
            <a:avLst/>
          </a:prstGeom>
        </p:spPr>
      </p:pic>
      <p:sp>
        <p:nvSpPr>
          <p:cNvPr id="4" name="Rectangle 3"/>
          <p:cNvSpPr/>
          <p:nvPr/>
        </p:nvSpPr>
        <p:spPr>
          <a:xfrm>
            <a:off x="271463" y="242888"/>
            <a:ext cx="11658600" cy="6386512"/>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sp>
        <p:nvSpPr>
          <p:cNvPr id="7" name="TextBox 6"/>
          <p:cNvSpPr txBox="1"/>
          <p:nvPr/>
        </p:nvSpPr>
        <p:spPr>
          <a:xfrm>
            <a:off x="3425311" y="2063077"/>
            <a:ext cx="4457700" cy="2400300"/>
          </a:xfrm>
          <a:prstGeom prst="rect">
            <a:avLst/>
          </a:prstGeom>
          <a:noFill/>
        </p:spPr>
        <p:txBody>
          <a:bodyPr wrap="square">
            <a:spAutoFit/>
          </a:bodyPr>
          <a:lstStyle/>
          <a:p>
            <a:r>
              <a:rPr sz="1600"/>
              <a:t>13,320 rows x 9 columns   -   ~1,100 locations   -   ~2,700 societies   -   price in Lakh INR   -   41% of listings have no society name</a:t>
            </a:r>
          </a:p>
        </p:txBody>
      </p:sp>
    </p:spTree>
    <p:extLst>
      <p:ext uri="{BB962C8B-B14F-4D97-AF65-F5344CB8AC3E}">
        <p14:creationId xmlns:p14="http://schemas.microsoft.com/office/powerpoint/2010/main" val="2354188481"/>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US" b="1" dirty="0" smtClean="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DATA PREPROCESSING</a:t>
            </a:r>
            <a:endParaRPr lang="en-IN" b="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104293" y="1705188"/>
            <a:ext cx="8946541" cy="4195481"/>
          </a:xfrm>
        </p:spPr>
        <p:txBody>
          <a:bodyPr>
            <a:normAutofit/>
          </a:bodyPr>
          <a:lstStyle/>
          <a:p>
            <a:pPr lvl="0" algn="just">
              <a:lnSpc>
                <a:spcPct val="150000"/>
              </a:lnSpc>
            </a:pPr>
            <a:r>
              <a:rPr sz="2000">
                <a:latin typeface="Times New Roman"/>
              </a:rPr>
              <a:t>Pre-processing is the process of removing and correcting unreliable data. Area values in other units (sq.meter, sq.yards, acre, perch) are converted to sqft and ranges are replaced by their midpoint. 59 rows (0.4%) with physically impossible measurements - e.g. an 11 sqft 3-bedroom flat or a 52,272 sqft house - are dropped. Missing baths/balconies are set to 0 and missing location/society are given a dedicated 'not available' category.</a:t>
            </a:r>
          </a:p>
        </p:txBody>
      </p:sp>
      <p:sp>
        <p:nvSpPr>
          <p:cNvPr id="4" name="Rectangle 3"/>
          <p:cNvSpPr/>
          <p:nvPr/>
        </p:nvSpPr>
        <p:spPr>
          <a:xfrm>
            <a:off x="271463" y="242888"/>
            <a:ext cx="11658600" cy="6386512"/>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spTree>
    <p:extLst>
      <p:ext uri="{BB962C8B-B14F-4D97-AF65-F5344CB8AC3E}">
        <p14:creationId xmlns:p14="http://schemas.microsoft.com/office/powerpoint/2010/main" val="1800559953"/>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US" b="1" dirty="0" smtClean="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DATA PREPROCESSING</a:t>
            </a:r>
            <a:endParaRPr lang="en-IN" b="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pic>
        <p:nvPicPr>
          <p:cNvPr id="6" name="Content Placeholder 5"/>
          <p:cNvPicPr>
            <a:picLocks noGrp="1"/>
          </p:cNvPicPr>
          <p:nvPr>
            <p:ph idx="1"/>
          </p:nvPr>
        </p:nvPicPr>
        <p:blipFill>
          <a:blip r:embed="rId2"/>
          <a:stretch>
            <a:fillRect/>
          </a:stretch>
        </p:blipFill>
        <p:spPr>
          <a:xfrm>
            <a:off x="1225312" y="2407444"/>
            <a:ext cx="4286845" cy="2460770"/>
          </a:xfrm>
          <a:prstGeom prst="rect">
            <a:avLst/>
          </a:prstGeom>
        </p:spPr>
      </p:pic>
      <p:sp>
        <p:nvSpPr>
          <p:cNvPr id="4" name="Rectangle 3"/>
          <p:cNvSpPr/>
          <p:nvPr/>
        </p:nvSpPr>
        <p:spPr>
          <a:xfrm>
            <a:off x="271463" y="242888"/>
            <a:ext cx="11658600" cy="6386512"/>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sp>
        <p:nvSpPr>
          <p:cNvPr id="8" name="TextBox 7"/>
          <p:cNvSpPr txBox="1"/>
          <p:nvPr/>
        </p:nvSpPr>
        <p:spPr>
          <a:xfrm>
            <a:off x="1225312" y="2407444"/>
            <a:ext cx="4286845" cy="2460770"/>
          </a:xfrm>
          <a:prstGeom prst="rect">
            <a:avLst/>
          </a:prstGeom>
          <a:noFill/>
        </p:spPr>
        <p:txBody>
          <a:bodyPr wrap="square">
            <a:spAutoFit/>
          </a:bodyPr>
          <a:lstStyle/>
          <a:p>
            <a:r>
              <a:rPr sz="1600"/>
              <a:t>Feature engineering converts raw labels into model features: size -&gt; BHK count (Studio/RK -&gt; 0/1), availability -&gt; completion year (0 = ready to move), area type -&gt; label encoding, and location &amp; society -&gt; frequency encoding (how often the value appears in the training split - no fake ordering, no thousands of sparse columns).</a:t>
            </a:r>
          </a:p>
        </p:txBody>
      </p:sp>
      <p:pic>
        <p:nvPicPr>
          <p:cNvPr id="9" name="Picture 8" descr="missing_values.png"/>
          <p:cNvPicPr>
            <a:picLocks noChangeAspect="1"/>
          </p:cNvPicPr>
          <p:nvPr/>
        </p:nvPicPr>
        <p:blipFill>
          <a:blip r:embed="rId4"/>
          <a:stretch>
            <a:fillRect/>
          </a:stretch>
        </p:blipFill>
        <p:spPr>
          <a:xfrm>
            <a:off x="6675120" y="2405575"/>
            <a:ext cx="4480560" cy="2412609"/>
          </a:xfrm>
          <a:prstGeom prst="rect">
            <a:avLst/>
          </a:prstGeom>
        </p:spPr>
      </p:pic>
    </p:spTree>
    <p:extLst>
      <p:ext uri="{BB962C8B-B14F-4D97-AF65-F5344CB8AC3E}">
        <p14:creationId xmlns:p14="http://schemas.microsoft.com/office/powerpoint/2010/main" val="2162750998"/>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US" b="1" dirty="0" smtClean="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DATA PREPROCESSING</a:t>
            </a:r>
            <a:endParaRPr lang="en-IN" b="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4" name="Rectangle 3"/>
          <p:cNvSpPr/>
          <p:nvPr/>
        </p:nvSpPr>
        <p:spPr>
          <a:xfrm>
            <a:off x="271463" y="242888"/>
            <a:ext cx="11658600" cy="6386512"/>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pic>
        <p:nvPicPr>
          <p:cNvPr id="10" name="Picture 9" descr="price_vs_sqft.png"/>
          <p:cNvPicPr>
            <a:picLocks noChangeAspect="1"/>
          </p:cNvPicPr>
          <p:nvPr/>
        </p:nvPicPr>
        <p:blipFill>
          <a:blip r:embed="rId4"/>
          <a:stretch>
            <a:fillRect/>
          </a:stretch>
        </p:blipFill>
        <p:spPr>
          <a:xfrm>
            <a:off x="822960" y="2258568"/>
            <a:ext cx="4663440" cy="2798064"/>
          </a:xfrm>
          <a:prstGeom prst="rect">
            <a:avLst/>
          </a:prstGeom>
        </p:spPr>
      </p:pic>
      <p:pic>
        <p:nvPicPr>
          <p:cNvPr id="11" name="Picture 10" descr="price_by_bhk.png"/>
          <p:cNvPicPr>
            <a:picLocks noChangeAspect="1"/>
          </p:cNvPicPr>
          <p:nvPr/>
        </p:nvPicPr>
        <p:blipFill>
          <a:blip r:embed="rId5"/>
          <a:stretch>
            <a:fillRect/>
          </a:stretch>
        </p:blipFill>
        <p:spPr>
          <a:xfrm>
            <a:off x="7040880" y="2368296"/>
            <a:ext cx="4297680" cy="2578608"/>
          </a:xfrm>
          <a:prstGeom prst="rect">
            <a:avLst/>
          </a:prstGeom>
        </p:spPr>
      </p:pic>
    </p:spTree>
    <p:extLst>
      <p:ext uri="{BB962C8B-B14F-4D97-AF65-F5344CB8AC3E}">
        <p14:creationId xmlns:p14="http://schemas.microsoft.com/office/powerpoint/2010/main" val="4144193135"/>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US" b="1" dirty="0" smtClean="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DATA SPLITTING</a:t>
            </a:r>
            <a:endParaRPr lang="en-IN" b="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38200" y="1368414"/>
            <a:ext cx="10515600" cy="5096780"/>
          </a:xfrm>
        </p:spPr>
        <p:txBody>
          <a:bodyPr>
            <a:noAutofit/>
          </a:bodyPr>
          <a:lstStyle/>
          <a:p>
            <a:pPr lvl="0" algn="just">
              <a:lnSpc>
                <a:spcPct val="150000"/>
              </a:lnSpc>
            </a:pPr>
            <a:r>
              <a:rPr sz="2000">
                <a:latin typeface="Times New Roman"/>
              </a:rPr>
              <a:t>During the machine learning process, data is needed for both training and evaluation. The prepared data is split 70/30 - 9,282 training rows and 3,979 test rows (random state 2). Because prices are strongly right-skewed by a handful of thousand-Lakh listings, the target is log(1 + price). The linear models are fitted on standardized features while the Random Forest uses the raw encoded features, and the frequency maps are built only from the training split so that no test information leaks in.</a:t>
            </a:r>
          </a:p>
        </p:txBody>
      </p:sp>
      <p:sp>
        <p:nvSpPr>
          <p:cNvPr id="4" name="Rectangle 3"/>
          <p:cNvSpPr/>
          <p:nvPr/>
        </p:nvSpPr>
        <p:spPr>
          <a:xfrm>
            <a:off x="271463" y="242888"/>
            <a:ext cx="11658600" cy="6386512"/>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spTree>
    <p:extLst>
      <p:ext uri="{BB962C8B-B14F-4D97-AF65-F5344CB8AC3E}">
        <p14:creationId xmlns:p14="http://schemas.microsoft.com/office/powerpoint/2010/main" val="3624511584"/>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38207" y="517113"/>
            <a:ext cx="9404723" cy="1400530"/>
          </a:xfrm>
        </p:spPr>
        <p:txBody>
          <a:bodyPr>
            <a:normAutofit/>
          </a:bodyPr>
          <a:lstStyle/>
          <a:p>
            <a:pPr algn="ctr"/>
            <a:r>
              <a:rPr lang="en-US" b="1" dirty="0" smtClean="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DATA SPLITTING</a:t>
            </a:r>
            <a:endParaRPr lang="en-IN" b="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pic>
        <p:nvPicPr>
          <p:cNvPr id="6" name="Content Placeholder 5"/>
          <p:cNvPicPr>
            <a:picLocks noGrp="1"/>
          </p:cNvPicPr>
          <p:nvPr>
            <p:ph idx="1"/>
          </p:nvPr>
        </p:nvPicPr>
        <p:blipFill>
          <a:blip r:embed="rId2"/>
          <a:stretch>
            <a:fillRect/>
          </a:stretch>
        </p:blipFill>
        <p:spPr>
          <a:xfrm>
            <a:off x="2871989" y="2457148"/>
            <a:ext cx="5937160" cy="2578492"/>
          </a:xfrm>
          <a:prstGeom prst="rect">
            <a:avLst/>
          </a:prstGeom>
        </p:spPr>
      </p:pic>
      <p:sp>
        <p:nvSpPr>
          <p:cNvPr id="4" name="Rectangle 3"/>
          <p:cNvSpPr/>
          <p:nvPr/>
        </p:nvSpPr>
        <p:spPr>
          <a:xfrm>
            <a:off x="271463" y="242888"/>
            <a:ext cx="11658600" cy="6386512"/>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sp>
        <p:nvSpPr>
          <p:cNvPr id="7" name="TextBox 6"/>
          <p:cNvSpPr txBox="1"/>
          <p:nvPr/>
        </p:nvSpPr>
        <p:spPr>
          <a:xfrm>
            <a:off x="2871989" y="2457148"/>
            <a:ext cx="5937160" cy="2578492"/>
          </a:xfrm>
          <a:prstGeom prst="rect">
            <a:avLst/>
          </a:prstGeom>
          <a:noFill/>
        </p:spPr>
        <p:txBody>
          <a:bodyPr wrap="square">
            <a:spAutoFit/>
          </a:bodyPr>
          <a:lstStyle/>
          <a:p>
            <a:r>
              <a:rPr sz="1600"/>
              <a:t>Train: 9,282 rows   -   Test: 3,979 rows   -   random state 2   -   target: log(1 + price)   -   frequency maps built from the training split only</a:t>
            </a:r>
          </a:p>
        </p:txBody>
      </p:sp>
    </p:spTree>
    <p:extLst>
      <p:ext uri="{BB962C8B-B14F-4D97-AF65-F5344CB8AC3E}">
        <p14:creationId xmlns:p14="http://schemas.microsoft.com/office/powerpoint/2010/main" val="3545717005"/>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09411" y="117263"/>
            <a:ext cx="10515600" cy="1325563"/>
          </a:xfrm>
        </p:spPr>
        <p:txBody>
          <a:bodyPr>
            <a:normAutofit/>
          </a:bodyPr>
          <a:lstStyle/>
          <a:p>
            <a:pPr algn="ctr"/>
            <a:r>
              <a:rPr b="1">
                <a:latin typeface="Times New Roman"/>
              </a:rPr>
              <a:t>MODEL TRAINING</a:t>
            </a:r>
            <a:endParaRPr lang="en-IN" b="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423594" y="1600647"/>
            <a:ext cx="11354337" cy="4731913"/>
          </a:xfrm>
        </p:spPr>
        <p:txBody>
          <a:bodyPr>
            <a:noAutofit/>
          </a:bodyPr>
          <a:lstStyle/>
          <a:p>
            <a:pPr lvl="0" algn="just">
              <a:lnSpc>
                <a:spcPct val="150000"/>
              </a:lnSpc>
            </a:pPr>
            <a:r>
              <a:rPr sz="2000">
                <a:latin typeface="Times New Roman"/>
              </a:rPr>
              <a:t>Three regression models are implemented and compared: Linear Regression (baseline), Ridge Regression (L2 regularization, alpha selected by 5-fold CV) and Random Forest (200 trees, min_samples_leaf = 3, chosen by a 5-fold CV grid search). All models predict log(1 + price); predictions are inverted back to Lakh INR for scoring and display.</a:t>
            </a:r>
          </a:p>
        </p:txBody>
      </p:sp>
      <p:sp>
        <p:nvSpPr>
          <p:cNvPr id="4" name="Rectangle 3"/>
          <p:cNvSpPr/>
          <p:nvPr/>
        </p:nvSpPr>
        <p:spPr>
          <a:xfrm>
            <a:off x="271463" y="242888"/>
            <a:ext cx="11658600" cy="6386512"/>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spTree>
    <p:extLst>
      <p:ext uri="{BB962C8B-B14F-4D97-AF65-F5344CB8AC3E}">
        <p14:creationId xmlns:p14="http://schemas.microsoft.com/office/powerpoint/2010/main" val="3223927760"/>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09411" y="117263"/>
            <a:ext cx="10515600" cy="1325563"/>
          </a:xfrm>
        </p:spPr>
        <p:txBody>
          <a:bodyPr>
            <a:normAutofit/>
          </a:bodyPr>
          <a:lstStyle/>
          <a:p>
            <a:pPr algn="ctr"/>
            <a:r>
              <a:rPr b="1">
                <a:latin typeface="Times New Roman"/>
              </a:rPr>
              <a:t>MODEL TRAINING</a:t>
            </a:r>
            <a:endParaRPr lang="en-IN" b="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4" name="Rectangle 3"/>
          <p:cNvSpPr/>
          <p:nvPr/>
        </p:nvSpPr>
        <p:spPr>
          <a:xfrm>
            <a:off x="271463" y="242888"/>
            <a:ext cx="11658600" cy="6386512"/>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pic>
        <p:nvPicPr>
          <p:cNvPr id="9" name="Picture 8" descr="r2_bars.png"/>
          <p:cNvPicPr>
            <a:picLocks noChangeAspect="1"/>
          </p:cNvPicPr>
          <p:nvPr/>
        </p:nvPicPr>
        <p:blipFill>
          <a:blip r:embed="rId4"/>
          <a:stretch>
            <a:fillRect/>
          </a:stretch>
        </p:blipFill>
        <p:spPr>
          <a:xfrm>
            <a:off x="3291840" y="1828800"/>
            <a:ext cx="5212080" cy="1212112"/>
          </a:xfrm>
          <a:prstGeom prst="rect">
            <a:avLst/>
          </a:prstGeom>
        </p:spPr>
      </p:pic>
      <p:pic>
        <p:nvPicPr>
          <p:cNvPr id="10" name="Picture 9" descr="mae_bars.png"/>
          <p:cNvPicPr>
            <a:picLocks noChangeAspect="1"/>
          </p:cNvPicPr>
          <p:nvPr/>
        </p:nvPicPr>
        <p:blipFill>
          <a:blip r:embed="rId5"/>
          <a:stretch>
            <a:fillRect/>
          </a:stretch>
        </p:blipFill>
        <p:spPr>
          <a:xfrm>
            <a:off x="3291840" y="3840480"/>
            <a:ext cx="5212080" cy="1212112"/>
          </a:xfrm>
          <a:prstGeom prst="rect">
            <a:avLst/>
          </a:prstGeom>
        </p:spPr>
      </p:pic>
    </p:spTree>
    <p:extLst>
      <p:ext uri="{BB962C8B-B14F-4D97-AF65-F5344CB8AC3E}">
        <p14:creationId xmlns:p14="http://schemas.microsoft.com/office/powerpoint/2010/main" val="3519865680"/>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09411" y="117263"/>
            <a:ext cx="10515600" cy="1325563"/>
          </a:xfrm>
        </p:spPr>
        <p:txBody>
          <a:bodyPr>
            <a:normAutofit/>
          </a:bodyPr>
          <a:lstStyle/>
          <a:p>
            <a:pPr algn="ctr"/>
            <a:r>
              <a:rPr lang="en-US" b="1" dirty="0" smtClean="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PREDICTION</a:t>
            </a:r>
            <a:endParaRPr lang="en-IN" b="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4" name="Rectangle 3"/>
          <p:cNvSpPr/>
          <p:nvPr/>
        </p:nvSpPr>
        <p:spPr>
          <a:xfrm>
            <a:off x="271463" y="242888"/>
            <a:ext cx="11658600" cy="6386512"/>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pic>
        <p:nvPicPr>
          <p:cNvPr id="5" name="Picture 4" descr="sample_predictions.png"/>
          <p:cNvPicPr>
            <a:picLocks noChangeAspect="1"/>
          </p:cNvPicPr>
          <p:nvPr/>
        </p:nvPicPr>
        <p:blipFill>
          <a:blip r:embed="rId3"/>
          <a:stretch>
            <a:fillRect/>
          </a:stretch>
        </p:blipFill>
        <p:spPr>
          <a:xfrm>
            <a:off x="3749039" y="2528840"/>
            <a:ext cx="4572000" cy="2623279"/>
          </a:xfrm>
          <a:prstGeom prst="rect">
            <a:avLst/>
          </a:prstGeom>
        </p:spPr>
      </p:pic>
    </p:spTree>
    <p:extLst>
      <p:ext uri="{BB962C8B-B14F-4D97-AF65-F5344CB8AC3E}">
        <p14:creationId xmlns:p14="http://schemas.microsoft.com/office/powerpoint/2010/main" val="3567908339"/>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52903" y="242888"/>
            <a:ext cx="9404723" cy="1400530"/>
          </a:xfrm>
        </p:spPr>
        <p:txBody>
          <a:bodyPr>
            <a:normAutofit/>
          </a:bodyPr>
          <a:lstStyle/>
          <a:p>
            <a:pPr algn="ctr"/>
            <a:r>
              <a:rPr lang="en-US" b="1" dirty="0" smtClean="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PERFORMANCE</a:t>
            </a:r>
            <a:endParaRPr lang="en-IN" b="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1104293" y="1579703"/>
            <a:ext cx="8946541" cy="4195481"/>
          </a:xfrm>
        </p:spPr>
        <p:txBody>
          <a:bodyPr>
            <a:noAutofit/>
          </a:bodyPr>
          <a:lstStyle/>
          <a:p>
            <a:pPr algn="just">
              <a:lnSpc>
                <a:spcPct val="150000"/>
              </a:lnSpc>
            </a:pPr>
            <a:r>
              <a:rPr sz="2000">
                <a:latin typeface="Times New Roman"/>
              </a:rPr>
              <a:t>The final results on the held-out test set (3,979 rows): Random Forest - R2 0.787, MAE 0.231 (log), MAE 31.4 Lakh, RMSE 89.4 Lakh; both linear models - R2 0.644, MAE 44.8 Lakh. The Random Forest's 5-fold CV R2 (0.776) matches its test score, so it generalizes rather than memorizes. An MAE (log) of 0.231 means the typical prediction is within about a quarter (multiplicatively) of the actual price; the Lakh-scale MAE is inflated by a few very expensive listings.</a:t>
            </a:r>
          </a:p>
        </p:txBody>
      </p:sp>
      <p:sp>
        <p:nvSpPr>
          <p:cNvPr id="4" name="Rectangle 3"/>
          <p:cNvSpPr/>
          <p:nvPr/>
        </p:nvSpPr>
        <p:spPr>
          <a:xfrm>
            <a:off x="271463" y="242888"/>
            <a:ext cx="11658600" cy="6386512"/>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spTree>
    <p:extLst>
      <p:ext uri="{BB962C8B-B14F-4D97-AF65-F5344CB8AC3E}">
        <p14:creationId xmlns:p14="http://schemas.microsoft.com/office/powerpoint/2010/main" val="3448276764"/>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pPr algn="ctr"/>
            <a:r>
              <a:rPr lang="en-US" b="1" dirty="0" smtClean="0">
                <a:latin typeface="Times New Roman" panose="02020603050405020304" pitchFamily="18" charset="0"/>
                <a:cs typeface="Times New Roman" panose="02020603050405020304" pitchFamily="18" charset="0"/>
              </a:rPr>
              <a:t>CONCLUSION</a:t>
            </a:r>
            <a:endParaRPr lang="en-IN" b="1" dirty="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38199" y="1690688"/>
            <a:ext cx="10830059" cy="4351338"/>
          </a:xfrm>
        </p:spPr>
        <p:txBody>
          <a:bodyPr>
            <a:normAutofit/>
          </a:bodyPr>
          <a:lstStyle/>
          <a:p>
            <a:pPr algn="just">
              <a:lnSpc>
                <a:spcPct val="150000"/>
              </a:lnSpc>
            </a:pPr>
            <a:r>
              <a:rPr sz="2000">
                <a:latin typeface="Times New Roman"/>
              </a:rPr>
              <a:t>We conclude that house prices in Bengaluru can be predicted from basic property details using regression models. Data cleaning and feature engineering - unit conversion, BHK/year derivation, frequency encoding and the log-price target - matter more than the algorithm choice, and the tuned Random Forest is the best model (R2 0.787, MAE 0.231 log). The trained models are delivered through a Streamlit app, a custom FastAPI web UI and a REST API, packaged in Docker with automated tests and CI. The predictions are estimates on historical listings, not current market quotes.</a:t>
            </a:r>
            <a:endParaRPr lang="en-IN" sz="2000" dirty="0" smtClean="0">
              <a:latin typeface="Times New Roman" panose="02020603050405020304" pitchFamily="18" charset="0"/>
              <a:cs typeface="Times New Roman" panose="02020603050405020304" pitchFamily="18" charset="0"/>
            </a:endParaRPr>
          </a:p>
        </p:txBody>
      </p:sp>
      <p:sp>
        <p:nvSpPr>
          <p:cNvPr id="4" name="Rectangle 3"/>
          <p:cNvSpPr/>
          <p:nvPr/>
        </p:nvSpPr>
        <p:spPr>
          <a:xfrm>
            <a:off x="271463" y="242888"/>
            <a:ext cx="11658600" cy="6386512"/>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spTree>
    <p:extLst>
      <p:ext uri="{BB962C8B-B14F-4D97-AF65-F5344CB8AC3E}">
        <p14:creationId xmlns:p14="http://schemas.microsoft.com/office/powerpoint/2010/main" val="1220290182"/>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lgn="ctr"/>
            <a:r>
              <a:rPr lang="en-US" b="1" dirty="0" smtClean="0">
                <a:latin typeface="Times New Roman" panose="02020603050405020304" pitchFamily="18" charset="0"/>
                <a:cs typeface="Times New Roman" panose="02020603050405020304" pitchFamily="18" charset="0"/>
              </a:rPr>
              <a:t>REFERENCES</a:t>
            </a:r>
            <a:endParaRPr lang="en-IN" dirty="0"/>
          </a:p>
        </p:txBody>
      </p:sp>
      <p:sp>
        <p:nvSpPr>
          <p:cNvPr id="3" name="Content Placeholder 2"/>
          <p:cNvSpPr>
            <a:spLocks noGrp="1"/>
          </p:cNvSpPr>
          <p:nvPr>
            <p:ph idx="1"/>
          </p:nvPr>
        </p:nvSpPr>
        <p:spPr>
          <a:xfrm>
            <a:off x="838200" y="1516532"/>
            <a:ext cx="10515600" cy="4768358"/>
          </a:xfrm>
        </p:spPr>
        <p:txBody>
          <a:bodyPr>
            <a:normAutofit fontScale="92500" lnSpcReduction="20000"/>
          </a:bodyPr>
          <a:lstStyle/>
          <a:p>
            <a:pPr marL="0" indent="0" algn="just">
              <a:lnSpc>
                <a:spcPct val="160000"/>
              </a:lnSpc>
              <a:buNone/>
            </a:pPr>
            <a:r>
              <a:rPr sz="2000">
                <a:latin typeface="Times New Roman"/>
              </a:rPr>
              <a:t>[1] Kaggle - Bengaluru House price data. https://www.kaggle.com/amitabhajoy/bengaluru-house-price-data (CC0).</a:t>
            </a:r>
          </a:p>
          <a:p>
            <a:pPr marL="0" indent="0" algn="just">
              <a:lnSpc>
                <a:spcPct val="160000"/>
              </a:lnSpc>
              <a:buNone/>
            </a:pPr>
            <a:r>
              <a:rPr sz="2000">
                <a:latin typeface="Times New Roman"/>
              </a:rPr>
              <a:t>[2] scikit-learn documentation. https://scikit-learn.org</a:t>
            </a:r>
          </a:p>
          <a:p>
            <a:pPr marL="0" indent="0" algn="just">
              <a:lnSpc>
                <a:spcPct val="160000"/>
              </a:lnSpc>
              <a:buNone/>
            </a:pPr>
            <a:r>
              <a:rPr sz="2000">
                <a:latin typeface="Times New Roman"/>
              </a:rPr>
              <a:t>[3] Streamlit documentation. https://docs.streamlit.io</a:t>
            </a:r>
          </a:p>
          <a:p>
            <a:pPr marL="0" indent="0" algn="just">
              <a:lnSpc>
                <a:spcPct val="160000"/>
              </a:lnSpc>
              <a:buNone/>
            </a:pPr>
            <a:r>
              <a:rPr sz="2000">
                <a:latin typeface="Times New Roman"/>
              </a:rPr>
              <a:t>[4] FastAPI documentation. https://fastapi.tiangolo.com</a:t>
            </a:r>
          </a:p>
          <a:p>
            <a:pPr marL="0" indent="0" algn="just">
              <a:lnSpc>
                <a:spcPct val="160000"/>
              </a:lnSpc>
              <a:buNone/>
            </a:pPr>
            <a:r>
              <a:rPr sz="2000">
                <a:latin typeface="Times New Roman"/>
              </a:rPr>
              <a:t>[5] T. Hastie, R. Tibshirani, J. Friedman, 'The Elements of Statistical Learning', 2nd ed., Springer, 2009.</a:t>
            </a:r>
          </a:p>
          <a:p>
            <a:pPr marL="0" indent="0" algn="just">
              <a:lnSpc>
                <a:spcPct val="160000"/>
              </a:lnSpc>
              <a:buNone/>
            </a:pPr>
            <a:r>
              <a:rPr sz="2000">
                <a:latin typeface="Times New Roman"/>
              </a:rPr>
              <a:t>[6] J. Han, M. Kamber, J. Pei, 'Data Mining: Concepts and Techniques', 4th ed., Morgan Kaufmann, 2012.</a:t>
            </a:r>
          </a:p>
        </p:txBody>
      </p:sp>
      <p:sp>
        <p:nvSpPr>
          <p:cNvPr id="4" name="Rectangle 3"/>
          <p:cNvSpPr/>
          <p:nvPr/>
        </p:nvSpPr>
        <p:spPr>
          <a:xfrm>
            <a:off x="271463" y="242888"/>
            <a:ext cx="11658600" cy="6386512"/>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spTree>
    <p:extLst>
      <p:ext uri="{BB962C8B-B14F-4D97-AF65-F5344CB8AC3E}">
        <p14:creationId xmlns:p14="http://schemas.microsoft.com/office/powerpoint/2010/main" val="109582956"/>
      </p:ext>
    </p:extLst>
  </p:cSld>
  <p:clrMapOvr>
    <a:masterClrMapping/>
  </p:clrMapOvr>
  <p:timing>
    <p:tnLst>
      <p:par>
        <p:cTn id="1" dur="indefinite" restart="never" nodeType="tmRoot"/>
      </p:par>
    </p:tnLst>
  </p:timing>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TextBox 1"/>
          <p:cNvSpPr txBox="1"/>
          <p:nvPr/>
        </p:nvSpPr>
        <p:spPr>
          <a:xfrm>
            <a:off x="548640" y="320040"/>
            <a:ext cx="11064240" cy="822960"/>
          </a:xfrm>
          <a:prstGeom prst="rect">
            <a:avLst/>
          </a:prstGeom>
          <a:noFill/>
        </p:spPr>
        <p:txBody>
          <a:bodyPr wrap="none">
            <a:spAutoFit/>
          </a:bodyPr>
          <a:lstStyle/>
          <a:p>
            <a:pPr>
              <a:defRPr sz="3000" b="1">
                <a:solidFill>
                  <a:srgbClr val="E8ECF8"/>
                </a:solidFill>
              </a:defRPr>
            </a:pPr>
            <a:r>
              <a:t>v2 — Model Comparison</a:t>
            </a:r>
          </a:p>
        </p:txBody>
      </p:sp>
      <p:graphicFrame>
        <p:nvGraphicFramePr>
          <p:cNvPr id="3" name="Table 2"/>
          <p:cNvGraphicFramePr>
            <a:graphicFrameLocks noGrp="1"/>
          </p:cNvGraphicFramePr>
          <p:nvPr/>
        </p:nvGraphicFramePr>
        <p:xfrm>
          <a:off x="731520" y="1463040"/>
          <a:ext cx="10607040" cy="2377440"/>
        </p:xfrm>
        <a:graphic>
          <a:graphicData uri="http://schemas.openxmlformats.org/drawingml/2006/table">
            <a:tbl>
              <a:tblPr firstRow="1" bandRow="1">
                <a:tableStyleId>{5C22544A-7EE6-4342-B048-85BDC9FD1C3A}</a:tableStyleId>
              </a:tblPr>
              <a:tblGrid>
                <a:gridCol w="1767840"/>
                <a:gridCol w="1767840"/>
                <a:gridCol w="1767840"/>
                <a:gridCol w="1767840"/>
                <a:gridCol w="1767840"/>
                <a:gridCol w="1767840"/>
              </a:tblGrid>
              <a:tr h="594360">
                <a:tc>
                  <a:txBody>
                    <a:bodyPr/>
                    <a:lstStyle/>
                    <a:p>
                      <a:pPr>
                        <a:defRPr sz="1400" b="1">
                          <a:solidFill>
                            <a:srgbClr val="E8ECF8"/>
                          </a:solidFill>
                        </a:defRPr>
                      </a:pPr>
                      <a:r>
                        <a:t>Model</a:t>
                      </a:r>
                    </a:p>
                  </a:txBody>
                  <a:tcPr>
                    <a:solidFill>
                      <a:srgbClr val="4F7CFF"/>
                    </a:solidFill>
                  </a:tcPr>
                </a:tc>
                <a:tc>
                  <a:txBody>
                    <a:bodyPr/>
                    <a:lstStyle/>
                    <a:p>
                      <a:pPr>
                        <a:defRPr sz="1400" b="1">
                          <a:solidFill>
                            <a:srgbClr val="E8ECF8"/>
                          </a:solidFill>
                        </a:defRPr>
                      </a:pPr>
                      <a:r>
                        <a:t>Params</a:t>
                      </a:r>
                    </a:p>
                  </a:txBody>
                  <a:tcPr>
                    <a:solidFill>
                      <a:srgbClr val="4F7CFF"/>
                    </a:solidFill>
                  </a:tcPr>
                </a:tc>
                <a:tc>
                  <a:txBody>
                    <a:bodyPr/>
                    <a:lstStyle/>
                    <a:p>
                      <a:pPr>
                        <a:defRPr sz="1400" b="1">
                          <a:solidFill>
                            <a:srgbClr val="E8ECF8"/>
                          </a:solidFill>
                        </a:defRPr>
                      </a:pPr>
                      <a:r>
                        <a:t>R² (log, test)</a:t>
                      </a:r>
                    </a:p>
                  </a:txBody>
                  <a:tcPr>
                    <a:solidFill>
                      <a:srgbClr val="4F7CFF"/>
                    </a:solidFill>
                  </a:tcPr>
                </a:tc>
                <a:tc>
                  <a:txBody>
                    <a:bodyPr/>
                    <a:lstStyle/>
                    <a:p>
                      <a:pPr>
                        <a:defRPr sz="1400" b="1">
                          <a:solidFill>
                            <a:srgbClr val="E8ECF8"/>
                          </a:solidFill>
                        </a:defRPr>
                      </a:pPr>
                      <a:r>
                        <a:t>MAE (log)</a:t>
                      </a:r>
                    </a:p>
                  </a:txBody>
                  <a:tcPr>
                    <a:solidFill>
                      <a:srgbClr val="4F7CFF"/>
                    </a:solidFill>
                  </a:tcPr>
                </a:tc>
                <a:tc>
                  <a:txBody>
                    <a:bodyPr/>
                    <a:lstStyle/>
                    <a:p>
                      <a:pPr>
                        <a:defRPr sz="1400" b="1">
                          <a:solidFill>
                            <a:srgbClr val="E8ECF8"/>
                          </a:solidFill>
                        </a:defRPr>
                      </a:pPr>
                      <a:r>
                        <a:t>MAE (Lakh)</a:t>
                      </a:r>
                    </a:p>
                  </a:txBody>
                  <a:tcPr>
                    <a:solidFill>
                      <a:srgbClr val="4F7CFF"/>
                    </a:solidFill>
                  </a:tcPr>
                </a:tc>
                <a:tc>
                  <a:txBody>
                    <a:bodyPr/>
                    <a:lstStyle/>
                    <a:p>
                      <a:pPr>
                        <a:defRPr sz="1400" b="1">
                          <a:solidFill>
                            <a:srgbClr val="E8ECF8"/>
                          </a:solidFill>
                        </a:defRPr>
                      </a:pPr>
                      <a:r>
                        <a:t>CV R² (log)</a:t>
                      </a:r>
                    </a:p>
                  </a:txBody>
                  <a:tcPr>
                    <a:solidFill>
                      <a:srgbClr val="4F7CFF"/>
                    </a:solidFill>
                  </a:tcPr>
                </a:tc>
              </a:tr>
              <a:tr h="594360">
                <a:tc>
                  <a:txBody>
                    <a:bodyPr/>
                    <a:lstStyle/>
                    <a:p>
                      <a:pPr>
                        <a:defRPr sz="1400" b="0">
                          <a:solidFill>
                            <a:srgbClr val="E8ECF8"/>
                          </a:solidFill>
                        </a:defRPr>
                      </a:pPr>
                      <a:r>
                        <a:t>Linear Regression</a:t>
                      </a:r>
                    </a:p>
                  </a:txBody>
                  <a:tcPr>
                    <a:solidFill>
                      <a:srgbClr val="141C3A"/>
                    </a:solidFill>
                  </a:tcPr>
                </a:tc>
                <a:tc>
                  <a:txBody>
                    <a:bodyPr/>
                    <a:lstStyle/>
                    <a:p>
                      <a:pPr>
                        <a:defRPr sz="1400" b="0">
                          <a:solidFill>
                            <a:srgbClr val="E8ECF8"/>
                          </a:solidFill>
                        </a:defRPr>
                      </a:pPr>
                      <a:r>
                        <a:t>—</a:t>
                      </a:r>
                    </a:p>
                  </a:txBody>
                  <a:tcPr>
                    <a:solidFill>
                      <a:srgbClr val="141C3A"/>
                    </a:solidFill>
                  </a:tcPr>
                </a:tc>
                <a:tc>
                  <a:txBody>
                    <a:bodyPr/>
                    <a:lstStyle/>
                    <a:p>
                      <a:pPr>
                        <a:defRPr sz="1400" b="0">
                          <a:solidFill>
                            <a:srgbClr val="E8ECF8"/>
                          </a:solidFill>
                        </a:defRPr>
                      </a:pPr>
                      <a:r>
                        <a:t>0.644</a:t>
                      </a:r>
                    </a:p>
                  </a:txBody>
                  <a:tcPr>
                    <a:solidFill>
                      <a:srgbClr val="141C3A"/>
                    </a:solidFill>
                  </a:tcPr>
                </a:tc>
                <a:tc>
                  <a:txBody>
                    <a:bodyPr/>
                    <a:lstStyle/>
                    <a:p>
                      <a:pPr>
                        <a:defRPr sz="1400" b="0">
                          <a:solidFill>
                            <a:srgbClr val="E8ECF8"/>
                          </a:solidFill>
                        </a:defRPr>
                      </a:pPr>
                      <a:r>
                        <a:t>0.317</a:t>
                      </a:r>
                    </a:p>
                  </a:txBody>
                  <a:tcPr>
                    <a:solidFill>
                      <a:srgbClr val="141C3A"/>
                    </a:solidFill>
                  </a:tcPr>
                </a:tc>
                <a:tc>
                  <a:txBody>
                    <a:bodyPr/>
                    <a:lstStyle/>
                    <a:p>
                      <a:pPr>
                        <a:defRPr sz="1400" b="0">
                          <a:solidFill>
                            <a:srgbClr val="E8ECF8"/>
                          </a:solidFill>
                        </a:defRPr>
                      </a:pPr>
                      <a:r>
                        <a:t>44.80</a:t>
                      </a:r>
                    </a:p>
                  </a:txBody>
                  <a:tcPr>
                    <a:solidFill>
                      <a:srgbClr val="141C3A"/>
                    </a:solidFill>
                  </a:tcPr>
                </a:tc>
                <a:tc>
                  <a:txBody>
                    <a:bodyPr/>
                    <a:lstStyle/>
                    <a:p>
                      <a:pPr>
                        <a:defRPr sz="1400" b="0">
                          <a:solidFill>
                            <a:srgbClr val="E8ECF8"/>
                          </a:solidFill>
                        </a:defRPr>
                      </a:pPr>
                      <a:r>
                        <a:t>0.623</a:t>
                      </a:r>
                    </a:p>
                  </a:txBody>
                  <a:tcPr>
                    <a:solidFill>
                      <a:srgbClr val="141C3A"/>
                    </a:solidFill>
                  </a:tcPr>
                </a:tc>
              </a:tr>
              <a:tr h="594360">
                <a:tc>
                  <a:txBody>
                    <a:bodyPr/>
                    <a:lstStyle/>
                    <a:p>
                      <a:pPr>
                        <a:defRPr sz="1400" b="0">
                          <a:solidFill>
                            <a:srgbClr val="E8ECF8"/>
                          </a:solidFill>
                        </a:defRPr>
                      </a:pPr>
                      <a:r>
                        <a:t>Ridge Regression</a:t>
                      </a:r>
                    </a:p>
                  </a:txBody>
                  <a:tcPr>
                    <a:solidFill>
                      <a:srgbClr val="141C3A"/>
                    </a:solidFill>
                  </a:tcPr>
                </a:tc>
                <a:tc>
                  <a:txBody>
                    <a:bodyPr/>
                    <a:lstStyle/>
                    <a:p>
                      <a:pPr>
                        <a:defRPr sz="1400" b="0">
                          <a:solidFill>
                            <a:srgbClr val="E8ECF8"/>
                          </a:solidFill>
                        </a:defRPr>
                      </a:pPr>
                      <a:r>
                        <a:t>alpha = 0.1</a:t>
                      </a:r>
                    </a:p>
                  </a:txBody>
                  <a:tcPr>
                    <a:solidFill>
                      <a:srgbClr val="141C3A"/>
                    </a:solidFill>
                  </a:tcPr>
                </a:tc>
                <a:tc>
                  <a:txBody>
                    <a:bodyPr/>
                    <a:lstStyle/>
                    <a:p>
                      <a:pPr>
                        <a:defRPr sz="1400" b="0">
                          <a:solidFill>
                            <a:srgbClr val="E8ECF8"/>
                          </a:solidFill>
                        </a:defRPr>
                      </a:pPr>
                      <a:r>
                        <a:t>0.644</a:t>
                      </a:r>
                    </a:p>
                  </a:txBody>
                  <a:tcPr>
                    <a:solidFill>
                      <a:srgbClr val="141C3A"/>
                    </a:solidFill>
                  </a:tcPr>
                </a:tc>
                <a:tc>
                  <a:txBody>
                    <a:bodyPr/>
                    <a:lstStyle/>
                    <a:p>
                      <a:pPr>
                        <a:defRPr sz="1400" b="0">
                          <a:solidFill>
                            <a:srgbClr val="E8ECF8"/>
                          </a:solidFill>
                        </a:defRPr>
                      </a:pPr>
                      <a:r>
                        <a:t>0.317</a:t>
                      </a:r>
                    </a:p>
                  </a:txBody>
                  <a:tcPr>
                    <a:solidFill>
                      <a:srgbClr val="141C3A"/>
                    </a:solidFill>
                  </a:tcPr>
                </a:tc>
                <a:tc>
                  <a:txBody>
                    <a:bodyPr/>
                    <a:lstStyle/>
                    <a:p>
                      <a:pPr>
                        <a:defRPr sz="1400" b="0">
                          <a:solidFill>
                            <a:srgbClr val="E8ECF8"/>
                          </a:solidFill>
                        </a:defRPr>
                      </a:pPr>
                      <a:r>
                        <a:t>44.80</a:t>
                      </a:r>
                    </a:p>
                  </a:txBody>
                  <a:tcPr>
                    <a:solidFill>
                      <a:srgbClr val="141C3A"/>
                    </a:solidFill>
                  </a:tcPr>
                </a:tc>
                <a:tc>
                  <a:txBody>
                    <a:bodyPr/>
                    <a:lstStyle/>
                    <a:p>
                      <a:pPr>
                        <a:defRPr sz="1400" b="0">
                          <a:solidFill>
                            <a:srgbClr val="E8ECF8"/>
                          </a:solidFill>
                        </a:defRPr>
                      </a:pPr>
                      <a:r>
                        <a:t>0.623</a:t>
                      </a:r>
                    </a:p>
                  </a:txBody>
                  <a:tcPr>
                    <a:solidFill>
                      <a:srgbClr val="141C3A"/>
                    </a:solidFill>
                  </a:tcPr>
                </a:tc>
              </a:tr>
              <a:tr h="594360">
                <a:tc>
                  <a:txBody>
                    <a:bodyPr/>
                    <a:lstStyle/>
                    <a:p>
                      <a:pPr>
                        <a:defRPr sz="1400" b="1">
                          <a:solidFill>
                            <a:srgbClr val="34D399"/>
                          </a:solidFill>
                        </a:defRPr>
                      </a:pPr>
                      <a:r>
                        <a:t>Random Forest (best)</a:t>
                      </a:r>
                    </a:p>
                  </a:txBody>
                  <a:tcPr>
                    <a:solidFill>
                      <a:srgbClr val="1B2A55"/>
                    </a:solidFill>
                  </a:tcPr>
                </a:tc>
                <a:tc>
                  <a:txBody>
                    <a:bodyPr/>
                    <a:lstStyle/>
                    <a:p>
                      <a:pPr>
                        <a:defRPr sz="1400" b="1">
                          <a:solidFill>
                            <a:srgbClr val="34D399"/>
                          </a:solidFill>
                        </a:defRPr>
                      </a:pPr>
                      <a:r>
                        <a:t>200 trees, leaf &gt;= 3</a:t>
                      </a:r>
                    </a:p>
                  </a:txBody>
                  <a:tcPr>
                    <a:solidFill>
                      <a:srgbClr val="1B2A55"/>
                    </a:solidFill>
                  </a:tcPr>
                </a:tc>
                <a:tc>
                  <a:txBody>
                    <a:bodyPr/>
                    <a:lstStyle/>
                    <a:p>
                      <a:pPr>
                        <a:defRPr sz="1400" b="1">
                          <a:solidFill>
                            <a:srgbClr val="34D399"/>
                          </a:solidFill>
                        </a:defRPr>
                      </a:pPr>
                      <a:r>
                        <a:t>0.787</a:t>
                      </a:r>
                    </a:p>
                  </a:txBody>
                  <a:tcPr>
                    <a:solidFill>
                      <a:srgbClr val="1B2A55"/>
                    </a:solidFill>
                  </a:tcPr>
                </a:tc>
                <a:tc>
                  <a:txBody>
                    <a:bodyPr/>
                    <a:lstStyle/>
                    <a:p>
                      <a:pPr>
                        <a:defRPr sz="1400" b="1">
                          <a:solidFill>
                            <a:srgbClr val="34D399"/>
                          </a:solidFill>
                        </a:defRPr>
                      </a:pPr>
                      <a:r>
                        <a:t>0.231</a:t>
                      </a:r>
                    </a:p>
                  </a:txBody>
                  <a:tcPr>
                    <a:solidFill>
                      <a:srgbClr val="1B2A55"/>
                    </a:solidFill>
                  </a:tcPr>
                </a:tc>
                <a:tc>
                  <a:txBody>
                    <a:bodyPr/>
                    <a:lstStyle/>
                    <a:p>
                      <a:pPr>
                        <a:defRPr sz="1400" b="1">
                          <a:solidFill>
                            <a:srgbClr val="34D399"/>
                          </a:solidFill>
                        </a:defRPr>
                      </a:pPr>
                      <a:r>
                        <a:t>31.41</a:t>
                      </a:r>
                    </a:p>
                  </a:txBody>
                  <a:tcPr>
                    <a:solidFill>
                      <a:srgbClr val="1B2A55"/>
                    </a:solidFill>
                  </a:tcPr>
                </a:tc>
                <a:tc>
                  <a:txBody>
                    <a:bodyPr/>
                    <a:lstStyle/>
                    <a:p>
                      <a:pPr>
                        <a:defRPr sz="1400" b="1">
                          <a:solidFill>
                            <a:srgbClr val="34D399"/>
                          </a:solidFill>
                        </a:defRPr>
                      </a:pPr>
                      <a:r>
                        <a:t>0.776</a:t>
                      </a:r>
                    </a:p>
                  </a:txBody>
                  <a:tcPr>
                    <a:solidFill>
                      <a:srgbClr val="1B2A55"/>
                    </a:solidFill>
                  </a:tcPr>
                </a:tc>
              </a:tr>
            </a:tbl>
          </a:graphicData>
        </a:graphic>
      </p:graphicFrame>
      <p:sp>
        <p:nvSpPr>
          <p:cNvPr id="4" name="TextBox 3"/>
          <p:cNvSpPr txBox="1"/>
          <p:nvPr/>
        </p:nvSpPr>
        <p:spPr>
          <a:xfrm>
            <a:off x="731520" y="4206240"/>
            <a:ext cx="10607040" cy="1463040"/>
          </a:xfrm>
          <a:prstGeom prst="rect">
            <a:avLst/>
          </a:prstGeom>
          <a:noFill/>
        </p:spPr>
        <p:txBody>
          <a:bodyPr wrap="square">
            <a:spAutoFit/>
          </a:bodyPr>
          <a:lstStyle/>
          <a:p>
            <a:pPr>
              <a:spcAft>
                <a:spcPts val="600"/>
              </a:spcAft>
            </a:pPr>
            <a:r>
              <a:rPr sz="1300">
                <a:solidFill>
                  <a:srgbClr val="93A0C4"/>
                </a:solidFill>
              </a:rPr>
              <a:t>13,320 listings  ·  70/30 split (random state 2)  ·  target = log(1 + price)</a:t>
            </a:r>
          </a:p>
          <a:p>
            <a:pPr>
              <a:spcAft>
                <a:spcPts val="600"/>
              </a:spcAft>
            </a:pPr>
            <a:r>
              <a:rPr sz="1300">
                <a:solidFill>
                  <a:srgbClr val="93A0C4"/>
                </a:solidFill>
              </a:rPr>
              <a:t>Random Forest explains ~79% of the (log) price variation; its 5-fold CV score matches the test score.</a:t>
            </a:r>
          </a:p>
          <a:p>
            <a:pPr>
              <a:spcAft>
                <a:spcPts val="600"/>
              </a:spcAft>
            </a:pPr>
            <a:r>
              <a:rPr sz="1300">
                <a:solidFill>
                  <a:srgbClr val="93A0C4"/>
                </a:solidFill>
              </a:rPr>
              <a:t>MAE (log) 0.231 = a typical prediction is within about a quarter of the actual price (multiplicatively).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TextBox 1"/>
          <p:cNvSpPr txBox="1"/>
          <p:nvPr/>
        </p:nvSpPr>
        <p:spPr>
          <a:xfrm>
            <a:off x="548640" y="320040"/>
            <a:ext cx="11064240" cy="822960"/>
          </a:xfrm>
          <a:prstGeom prst="rect">
            <a:avLst/>
          </a:prstGeom>
          <a:noFill/>
        </p:spPr>
        <p:txBody>
          <a:bodyPr wrap="none">
            <a:spAutoFit/>
          </a:bodyPr>
          <a:lstStyle/>
          <a:p>
            <a:pPr>
              <a:defRPr sz="3000" b="1">
                <a:solidFill>
                  <a:srgbClr val="E8ECF8"/>
                </a:solidFill>
              </a:defRPr>
            </a:pPr>
            <a:r>
              <a:t>v2 — Data Pipeline Improvements</a:t>
            </a:r>
          </a:p>
        </p:txBody>
      </p:sp>
      <p:sp>
        <p:nvSpPr>
          <p:cNvPr id="3" name="TextBox 2"/>
          <p:cNvSpPr txBox="1"/>
          <p:nvPr/>
        </p:nvSpPr>
        <p:spPr>
          <a:xfrm>
            <a:off x="731520" y="1371600"/>
            <a:ext cx="10607040" cy="4846320"/>
          </a:xfrm>
          <a:prstGeom prst="rect">
            <a:avLst/>
          </a:prstGeom>
          <a:noFill/>
        </p:spPr>
        <p:txBody>
          <a:bodyPr wrap="square">
            <a:spAutoFit/>
          </a:bodyPr>
          <a:lstStyle/>
          <a:p>
            <a:pPr>
              <a:spcAft>
                <a:spcPts val="1000"/>
              </a:spcAft>
            </a:pPr>
            <a:r>
              <a:rPr sz="1600" b="1">
                <a:solidFill>
                  <a:srgbClr val="E8ECF8"/>
                </a:solidFill>
              </a:rPr>
              <a:t>•  total_sqft is no longer dropped</a:t>
            </a:r>
          </a:p>
          <a:p>
            <a:pPr>
              <a:spcAft>
                <a:spcPts val="1000"/>
              </a:spcAft>
            </a:pPr>
            <a:r>
              <a:rPr sz="1600" b="0">
                <a:solidFill>
                  <a:srgbClr val="93A0C4"/>
                </a:solidFill>
              </a:rPr>
              <a:t>•  Parses text values, converts sq.meter / yards / acre / perch to sqft, ranges become their midpoint</a:t>
            </a:r>
          </a:p>
          <a:p>
            <a:pPr>
              <a:spcAft>
                <a:spcPts val="1000"/>
              </a:spcAft>
            </a:pPr>
            <a:r>
              <a:rPr sz="1600" b="0">
                <a:solidFill>
                  <a:srgbClr val="93A0C4"/>
                </a:solidFill>
              </a:rPr>
              <a:t>•  Removed 59 impossible rows (0.4%): 11 sqft flats, a 52,272 sqft house, 40-bathroom listings</a:t>
            </a:r>
          </a:p>
          <a:p>
            <a:pPr>
              <a:spcAft>
                <a:spcPts val="1000"/>
              </a:spcAft>
            </a:pPr>
            <a:r>
              <a:rPr sz="1600" b="1">
                <a:solidFill>
                  <a:srgbClr val="E8ECF8"/>
                </a:solidFill>
              </a:rPr>
              <a:t>•  size -&gt; BHK count; availability -&gt; completion year (0 = ready to move)</a:t>
            </a:r>
          </a:p>
          <a:p>
            <a:pPr>
              <a:spcAft>
                <a:spcPts val="1000"/>
              </a:spcAft>
            </a:pPr>
            <a:r>
              <a:rPr sz="1600" b="0">
                <a:solidFill>
                  <a:srgbClr val="93A0C4"/>
                </a:solidFill>
              </a:rPr>
              <a:t>•  location / society frequency encoded (1,124 locations, ~2,600 societies) — no fake order, no 5,600 sparse columns</a:t>
            </a:r>
          </a:p>
          <a:p>
            <a:pPr>
              <a:spcAft>
                <a:spcPts val="1000"/>
              </a:spcAft>
            </a:pPr>
            <a:r>
              <a:rPr sz="1600" b="1">
                <a:solidFill>
                  <a:srgbClr val="E8ECF8"/>
                </a:solidFill>
              </a:rPr>
              <a:t>•  Log-price target tames the right tail; linear models trained on standardized features</a:t>
            </a:r>
          </a:p>
          <a:p>
            <a:pPr>
              <a:spcAft>
                <a:spcPts val="1000"/>
              </a:spcAft>
            </a:pPr>
            <a:r>
              <a:rPr sz="1600" b="0">
                <a:solidFill>
                  <a:srgbClr val="93A0C4"/>
                </a:solidFill>
              </a:rPr>
              <a:t>•  Random Forest hyper-parameters chosen by 5-fold CV grid search (trees x leaf size)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TextBox 1"/>
          <p:cNvSpPr txBox="1"/>
          <p:nvPr/>
        </p:nvSpPr>
        <p:spPr>
          <a:xfrm>
            <a:off x="548640" y="320040"/>
            <a:ext cx="11064240" cy="822960"/>
          </a:xfrm>
          <a:prstGeom prst="rect">
            <a:avLst/>
          </a:prstGeom>
          <a:noFill/>
        </p:spPr>
        <p:txBody>
          <a:bodyPr wrap="none">
            <a:spAutoFit/>
          </a:bodyPr>
          <a:lstStyle/>
          <a:p>
            <a:pPr>
              <a:defRPr sz="3000" b="1">
                <a:solidFill>
                  <a:srgbClr val="E8ECF8"/>
                </a:solidFill>
              </a:defRPr>
            </a:pPr>
            <a:r>
              <a:t>v2 — Web App + REST API</a:t>
            </a:r>
          </a:p>
        </p:txBody>
      </p:sp>
      <p:sp>
        <p:nvSpPr>
          <p:cNvPr id="3" name="TextBox 2"/>
          <p:cNvSpPr txBox="1"/>
          <p:nvPr/>
        </p:nvSpPr>
        <p:spPr>
          <a:xfrm>
            <a:off x="731520" y="1371600"/>
            <a:ext cx="10607040" cy="4846320"/>
          </a:xfrm>
          <a:prstGeom prst="rect">
            <a:avLst/>
          </a:prstGeom>
          <a:noFill/>
        </p:spPr>
        <p:txBody>
          <a:bodyPr wrap="square">
            <a:spAutoFit/>
          </a:bodyPr>
          <a:lstStyle/>
          <a:p>
            <a:pPr>
              <a:spcAft>
                <a:spcPts val="1000"/>
              </a:spcAft>
            </a:pPr>
            <a:r>
              <a:rPr sz="1600" b="1">
                <a:solidFill>
                  <a:srgbClr val="E8ECF8"/>
                </a:solidFill>
              </a:rPr>
              <a:t>•  Two faces, one set of models</a:t>
            </a:r>
          </a:p>
          <a:p>
            <a:pPr>
              <a:spcAft>
                <a:spcPts val="1000"/>
              </a:spcAft>
            </a:pPr>
            <a:r>
              <a:rPr sz="1600" b="0">
                <a:solidFill>
                  <a:srgbClr val="93A0C4"/>
                </a:solidFill>
              </a:rPr>
              <a:t>•  Streamlit app: model switcher, all 1,124 locations, Data &amp; EDA and Model Report pages</a:t>
            </a:r>
          </a:p>
          <a:p>
            <a:pPr>
              <a:spcAft>
                <a:spcPts val="1000"/>
              </a:spcAft>
            </a:pPr>
            <a:r>
              <a:rPr sz="1600" b="0">
                <a:solidFill>
                  <a:srgbClr val="93A0C4"/>
                </a:solidFill>
              </a:rPr>
              <a:t>•  FastAPI + custom single-page UI: one process, no build step, works offline</a:t>
            </a:r>
          </a:p>
          <a:p>
            <a:pPr>
              <a:spcAft>
                <a:spcPts val="1000"/>
              </a:spcAft>
            </a:pPr>
            <a:r>
              <a:rPr sz="1600" b="1">
                <a:solidFill>
                  <a:srgbClr val="E8ECF8"/>
                </a:solidFill>
              </a:rPr>
              <a:t>•  REST endpoints</a:t>
            </a:r>
          </a:p>
          <a:p>
            <a:pPr>
              <a:spcAft>
                <a:spcPts val="1000"/>
              </a:spcAft>
            </a:pPr>
            <a:r>
              <a:rPr sz="1600" b="0">
                <a:solidFill>
                  <a:srgbClr val="93A0C4"/>
                </a:solidFill>
              </a:rPr>
              <a:t>•  POST /predict (any of the 3 models) · GET /models · /locations · /meta · /health · Swagger docs at /docs</a:t>
            </a:r>
          </a:p>
          <a:p>
            <a:pPr>
              <a:spcAft>
                <a:spcPts val="1000"/>
              </a:spcAft>
            </a:pPr>
            <a:r>
              <a:rPr sz="1600" b="1">
                <a:solidFill>
                  <a:srgbClr val="E8ECF8"/>
                </a:solidFill>
              </a:rPr>
              <a:t>•  Deployment &amp; quality</a:t>
            </a:r>
          </a:p>
          <a:p>
            <a:pPr>
              <a:spcAft>
                <a:spcPts val="1000"/>
              </a:spcAft>
            </a:pPr>
            <a:r>
              <a:rPr sz="1600" b="0">
                <a:solidFill>
                  <a:srgbClr val="93A0C4"/>
                </a:solidFill>
              </a:rPr>
              <a:t>•  Docker image (one command) · pytest test suite · GitHub Actions CI on every push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B1020"/>
        </a:solidFill>
        <a:effectLst/>
      </p:bgPr>
    </p:bg>
    <p:spTree>
      <p:nvGrpSpPr>
        <p:cNvPr id="1" name=""/>
        <p:cNvGrpSpPr/>
        <p:nvPr/>
      </p:nvGrpSpPr>
      <p:grpSpPr/>
      <p:sp>
        <p:nvSpPr>
          <p:cNvPr id="2" name="TextBox 1"/>
          <p:cNvSpPr txBox="1"/>
          <p:nvPr/>
        </p:nvSpPr>
        <p:spPr>
          <a:xfrm>
            <a:off x="548640" y="320040"/>
            <a:ext cx="11064240" cy="822960"/>
          </a:xfrm>
          <a:prstGeom prst="rect">
            <a:avLst/>
          </a:prstGeom>
          <a:noFill/>
        </p:spPr>
        <p:txBody>
          <a:bodyPr wrap="none">
            <a:spAutoFit/>
          </a:bodyPr>
          <a:lstStyle/>
          <a:p>
            <a:pPr>
              <a:defRPr sz="3000" b="1">
                <a:solidFill>
                  <a:srgbClr val="E8ECF8"/>
                </a:solidFill>
              </a:defRPr>
            </a:pPr>
            <a:r>
              <a:t>v2 — Model Diagnostics</a:t>
            </a:r>
          </a:p>
        </p:txBody>
      </p:sp>
      <p:pic>
        <p:nvPicPr>
          <p:cNvPr id="3" name="Picture 2" descr="model_comparison.png"/>
          <p:cNvPicPr>
            <a:picLocks noChangeAspect="1"/>
          </p:cNvPicPr>
          <p:nvPr/>
        </p:nvPicPr>
        <p:blipFill>
          <a:blip r:embed="rId2"/>
          <a:stretch>
            <a:fillRect/>
          </a:stretch>
        </p:blipFill>
        <p:spPr>
          <a:xfrm>
            <a:off x="457200" y="1463040"/>
            <a:ext cx="5577840" cy="2479040"/>
          </a:xfrm>
          <a:prstGeom prst="rect">
            <a:avLst/>
          </a:prstGeom>
        </p:spPr>
      </p:pic>
      <p:pic>
        <p:nvPicPr>
          <p:cNvPr id="4" name="Picture 3" descr="feature_importance.png"/>
          <p:cNvPicPr>
            <a:picLocks noChangeAspect="1"/>
          </p:cNvPicPr>
          <p:nvPr/>
        </p:nvPicPr>
        <p:blipFill>
          <a:blip r:embed="rId3"/>
          <a:stretch>
            <a:fillRect/>
          </a:stretch>
        </p:blipFill>
        <p:spPr>
          <a:xfrm>
            <a:off x="6309360" y="1463040"/>
            <a:ext cx="5303520" cy="3030583"/>
          </a:xfrm>
          <a:prstGeom prst="rect">
            <a:avLst/>
          </a:prstGeom>
        </p:spPr>
      </p:pic>
      <p:sp>
        <p:nvSpPr>
          <p:cNvPr id="5" name="TextBox 4"/>
          <p:cNvSpPr txBox="1"/>
          <p:nvPr/>
        </p:nvSpPr>
        <p:spPr>
          <a:xfrm>
            <a:off x="457200" y="5120640"/>
            <a:ext cx="11155680" cy="1097280"/>
          </a:xfrm>
          <a:prstGeom prst="rect">
            <a:avLst/>
          </a:prstGeom>
          <a:noFill/>
        </p:spPr>
        <p:txBody>
          <a:bodyPr wrap="square">
            <a:spAutoFit/>
          </a:bodyPr>
          <a:lstStyle/>
          <a:p>
            <a:r>
              <a:rPr sz="1300">
                <a:solidFill>
                  <a:srgbClr val="93A0C4"/>
                </a:solidFill>
              </a:rPr>
              <a:t>Total area and BHK dominate the feature importance — what a human would expect. Location frequency captures how active a market is.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74678" y="2480528"/>
            <a:ext cx="10515600" cy="1325563"/>
          </a:xfrm>
        </p:spPr>
        <p:txBody>
          <a:bodyPr>
            <a:normAutofit/>
          </a:bodyPr>
          <a:lstStyle/>
          <a:p>
            <a:pPr algn="ctr"/>
            <a:r>
              <a:rPr lang="en-US" sz="6000" b="1" i="1" dirty="0" smtClean="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Thank</a:t>
            </a:r>
            <a:r>
              <a:rPr lang="en-US" sz="6000" b="1" dirty="0" smtClean="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a:t>
            </a:r>
            <a:r>
              <a:rPr lang="en-US" sz="6000" b="1" i="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Y</a:t>
            </a:r>
            <a:r>
              <a:rPr lang="en-US" sz="6000" b="1" i="1" dirty="0" smtClean="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ou…</a:t>
            </a:r>
            <a:endParaRPr lang="en-IN" sz="6000" b="1" i="1" dirty="0">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3" name="Rectangle 2"/>
          <p:cNvSpPr/>
          <p:nvPr/>
        </p:nvSpPr>
        <p:spPr>
          <a:xfrm>
            <a:off x="271463" y="242888"/>
            <a:ext cx="11658600" cy="6386512"/>
          </a:xfrm>
          <a:prstGeom prst="rect">
            <a:avLst/>
          </a:prstGeom>
          <a:noFill/>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spTree>
    <p:extLst>
      <p:ext uri="{BB962C8B-B14F-4D97-AF65-F5344CB8AC3E}">
        <p14:creationId xmlns:p14="http://schemas.microsoft.com/office/powerpoint/2010/main" val="511934383"/>
      </p:ext>
    </p:extLst>
  </p:cSld>
  <p:clrMapOvr>
    <a:masterClrMapping/>
  </p:clrMapOvr>
  <p:timing>
    <p:tnLst>
      <p:par>
        <p:cTn id="1" dur="indefinite" restart="never" nodeType="tmRoot"/>
      </p:par>
    </p:tnLst>
  </p:timing>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docProps/app.xml><?xml version="1.0" encoding="utf-8"?>
<Properties xmlns="http://schemas.openxmlformats.org/officeDocument/2006/extended-properties" xmlns:vt="http://schemas.openxmlformats.org/officeDocument/2006/docPropsVTypes">
  <Template>Retrospect</Template>
  <TotalTime>807</TotalTime>
  <Words>1237</Words>
  <Application>Microsoft Office PowerPoint</Application>
  <PresentationFormat>Widescreen</PresentationFormat>
  <Paragraphs>97</Paragraphs>
  <Slides>24</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24</vt:i4>
      </vt:variant>
    </vt:vector>
  </HeadingPairs>
  <TitlesOfParts>
    <vt:vector size="32" baseType="lpstr">
      <vt:lpstr>Arial</vt:lpstr>
      <vt:lpstr>Century Gothic</vt:lpstr>
      <vt:lpstr>Copperplate Gothic Bold</vt:lpstr>
      <vt:lpstr>Courier New</vt:lpstr>
      <vt:lpstr>Roboto</vt:lpstr>
      <vt:lpstr>Times New Roman</vt:lpstr>
      <vt:lpstr>Wingdings 3</vt:lpstr>
      <vt:lpstr>Ion</vt:lpstr>
      <vt:lpstr>PowerPoint Presentation</vt:lpstr>
      <vt:lpstr>ABSTRACT</vt:lpstr>
      <vt:lpstr>OBJECTIVES</vt:lpstr>
      <vt:lpstr>EXISTING SYSTEM</vt:lpstr>
      <vt:lpstr>DISADVANTAGES</vt:lpstr>
      <vt:lpstr>PROPOSED SYSTEM</vt:lpstr>
      <vt:lpstr>ADVANTAGES</vt:lpstr>
      <vt:lpstr>FLOW DIAGRAM</vt:lpstr>
      <vt:lpstr>MODULES</vt:lpstr>
      <vt:lpstr>PowerPoint Presentation</vt:lpstr>
      <vt:lpstr>DATA SELECTION</vt:lpstr>
      <vt:lpstr>DATA SELECTION</vt:lpstr>
      <vt:lpstr>DATA PREPROCESSING</vt:lpstr>
      <vt:lpstr>DATA PREPROCESSING</vt:lpstr>
      <vt:lpstr>DATA PREPROCESSING</vt:lpstr>
      <vt:lpstr>DATA SPLITTING</vt:lpstr>
      <vt:lpstr>DATA SPLITTING</vt:lpstr>
      <vt:lpstr>CLASSIFICATION</vt:lpstr>
      <vt:lpstr>CLASSIFICATION</vt:lpstr>
      <vt:lpstr>PREDICTION</vt:lpstr>
      <vt:lpstr>PERFORMANCE</vt:lpstr>
      <vt:lpstr>CONCLUSION</vt:lpstr>
      <vt:lpstr>REFERENCES</vt:lpstr>
      <vt:lpstr>Thank You…</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EGC</dc:creator>
  <cp:lastModifiedBy>abu</cp:lastModifiedBy>
  <cp:revision>207</cp:revision>
  <dcterms:created xsi:type="dcterms:W3CDTF">2021-08-05T08:39:52Z</dcterms:created>
  <dcterms:modified xsi:type="dcterms:W3CDTF">2023-05-24T22:04:02Z</dcterms:modified>
</cp:coreProperties>
</file>